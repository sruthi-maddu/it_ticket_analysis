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67" r:id="rId6"/>
    <p:sldId id="268" r:id="rId7"/>
    <p:sldId id="269" r:id="rId8"/>
    <p:sldId id="270" r:id="rId9"/>
    <p:sldId id="273" r:id="rId10"/>
    <p:sldId id="274" r:id="rId11"/>
    <p:sldId id="275" r:id="rId12"/>
    <p:sldId id="263" r:id="rId13"/>
    <p:sldId id="272" r:id="rId14"/>
    <p:sldId id="271"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56287E-866F-463E-8424-DDC18EA810F8}" v="23" dt="2025-09-23T12:47:03.9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65 Sruthi Geervani.M" userId="54e12d9ceefaabec" providerId="LiveId" clId="{1C34CB98-F855-45E3-9FC0-920919311A43}"/>
    <pc:docChg chg="undo redo custSel addSld modSld sldOrd">
      <pc:chgData name="SM65 Sruthi Geervani.M" userId="54e12d9ceefaabec" providerId="LiveId" clId="{1C34CB98-F855-45E3-9FC0-920919311A43}" dt="2025-09-23T12:49:14.047" v="603" actId="1076"/>
      <pc:docMkLst>
        <pc:docMk/>
      </pc:docMkLst>
      <pc:sldChg chg="modSp mod">
        <pc:chgData name="SM65 Sruthi Geervani.M" userId="54e12d9ceefaabec" providerId="LiveId" clId="{1C34CB98-F855-45E3-9FC0-920919311A43}" dt="2025-09-23T11:42:03.085" v="0" actId="1076"/>
        <pc:sldMkLst>
          <pc:docMk/>
          <pc:sldMk cId="1521060841" sldId="257"/>
        </pc:sldMkLst>
        <pc:picChg chg="mod">
          <ac:chgData name="SM65 Sruthi Geervani.M" userId="54e12d9ceefaabec" providerId="LiveId" clId="{1C34CB98-F855-45E3-9FC0-920919311A43}" dt="2025-09-23T11:42:03.085" v="0" actId="1076"/>
          <ac:picMkLst>
            <pc:docMk/>
            <pc:sldMk cId="1521060841" sldId="257"/>
            <ac:picMk id="6" creationId="{1AA5828D-815B-02D6-9443-B8369E2DB04A}"/>
          </ac:picMkLst>
        </pc:picChg>
      </pc:sldChg>
      <pc:sldChg chg="addSp delSp modSp mod ord">
        <pc:chgData name="SM65 Sruthi Geervani.M" userId="54e12d9ceefaabec" providerId="LiveId" clId="{1C34CB98-F855-45E3-9FC0-920919311A43}" dt="2025-09-23T12:43:31.111" v="566" actId="1076"/>
        <pc:sldMkLst>
          <pc:docMk/>
          <pc:sldMk cId="1969596153" sldId="263"/>
        </pc:sldMkLst>
        <pc:spChg chg="mod">
          <ac:chgData name="SM65 Sruthi Geervani.M" userId="54e12d9ceefaabec" providerId="LiveId" clId="{1C34CB98-F855-45E3-9FC0-920919311A43}" dt="2025-09-23T12:43:31.111" v="566" actId="1076"/>
          <ac:spMkLst>
            <pc:docMk/>
            <pc:sldMk cId="1969596153" sldId="263"/>
            <ac:spMk id="5" creationId="{F1EFD2E1-4A1E-5233-07E0-5C45C850EA6A}"/>
          </ac:spMkLst>
        </pc:spChg>
        <pc:picChg chg="del">
          <ac:chgData name="SM65 Sruthi Geervani.M" userId="54e12d9ceefaabec" providerId="LiveId" clId="{1C34CB98-F855-45E3-9FC0-920919311A43}" dt="2025-09-23T12:42:39.148" v="561" actId="478"/>
          <ac:picMkLst>
            <pc:docMk/>
            <pc:sldMk cId="1969596153" sldId="263"/>
            <ac:picMk id="3" creationId="{FDF3A30D-7902-A34D-F6D6-A11C3899395E}"/>
          </ac:picMkLst>
        </pc:picChg>
        <pc:picChg chg="add mod">
          <ac:chgData name="SM65 Sruthi Geervani.M" userId="54e12d9ceefaabec" providerId="LiveId" clId="{1C34CB98-F855-45E3-9FC0-920919311A43}" dt="2025-09-23T12:43:24.517" v="565" actId="1076"/>
          <ac:picMkLst>
            <pc:docMk/>
            <pc:sldMk cId="1969596153" sldId="263"/>
            <ac:picMk id="4" creationId="{DEE78F9C-3B38-78C9-5A45-4FC866137E07}"/>
          </ac:picMkLst>
        </pc:picChg>
      </pc:sldChg>
      <pc:sldChg chg="addSp delSp modSp mod">
        <pc:chgData name="SM65 Sruthi Geervani.M" userId="54e12d9ceefaabec" providerId="LiveId" clId="{1C34CB98-F855-45E3-9FC0-920919311A43}" dt="2025-09-23T12:10:02.311" v="59" actId="1036"/>
        <pc:sldMkLst>
          <pc:docMk/>
          <pc:sldMk cId="3967306412" sldId="265"/>
        </pc:sldMkLst>
        <pc:spChg chg="add del mod">
          <ac:chgData name="SM65 Sruthi Geervani.M" userId="54e12d9ceefaabec" providerId="LiveId" clId="{1C34CB98-F855-45E3-9FC0-920919311A43}" dt="2025-09-23T12:08:26.015" v="58" actId="113"/>
          <ac:spMkLst>
            <pc:docMk/>
            <pc:sldMk cId="3967306412" sldId="265"/>
            <ac:spMk id="2" creationId="{14D1958F-6D92-B3C9-6BA9-6E33129C2930}"/>
          </ac:spMkLst>
        </pc:spChg>
        <pc:spChg chg="del mod">
          <ac:chgData name="SM65 Sruthi Geervani.M" userId="54e12d9ceefaabec" providerId="LiveId" clId="{1C34CB98-F855-45E3-9FC0-920919311A43}" dt="2025-09-23T12:04:19.315" v="18"/>
          <ac:spMkLst>
            <pc:docMk/>
            <pc:sldMk cId="3967306412" sldId="265"/>
            <ac:spMk id="6" creationId="{CF7F6005-20FE-50BA-9559-B3FDF2EE71FB}"/>
          </ac:spMkLst>
        </pc:spChg>
        <pc:spChg chg="del mod">
          <ac:chgData name="SM65 Sruthi Geervani.M" userId="54e12d9ceefaabec" providerId="LiveId" clId="{1C34CB98-F855-45E3-9FC0-920919311A43}" dt="2025-09-23T12:04:09.188" v="2" actId="478"/>
          <ac:spMkLst>
            <pc:docMk/>
            <pc:sldMk cId="3967306412" sldId="265"/>
            <ac:spMk id="8" creationId="{6D9774C4-BA70-6C28-C4E1-D9ADF069609F}"/>
          </ac:spMkLst>
        </pc:spChg>
        <pc:spChg chg="del">
          <ac:chgData name="SM65 Sruthi Geervani.M" userId="54e12d9ceefaabec" providerId="LiveId" clId="{1C34CB98-F855-45E3-9FC0-920919311A43}" dt="2025-09-23T12:04:11.767" v="3" actId="478"/>
          <ac:spMkLst>
            <pc:docMk/>
            <pc:sldMk cId="3967306412" sldId="265"/>
            <ac:spMk id="9" creationId="{4DD37B68-8346-FEDD-C1EB-904E02157D86}"/>
          </ac:spMkLst>
        </pc:spChg>
        <pc:spChg chg="mod">
          <ac:chgData name="SM65 Sruthi Geervani.M" userId="54e12d9ceefaabec" providerId="LiveId" clId="{1C34CB98-F855-45E3-9FC0-920919311A43}" dt="2025-09-23T12:10:02.311" v="59" actId="1036"/>
          <ac:spMkLst>
            <pc:docMk/>
            <pc:sldMk cId="3967306412" sldId="265"/>
            <ac:spMk id="10" creationId="{89838080-5359-3E46-455C-9A6E0E12FE5C}"/>
          </ac:spMkLst>
        </pc:spChg>
      </pc:sldChg>
      <pc:sldChg chg="modSp mod">
        <pc:chgData name="SM65 Sruthi Geervani.M" userId="54e12d9ceefaabec" providerId="LiveId" clId="{1C34CB98-F855-45E3-9FC0-920919311A43}" dt="2025-09-23T12:12:15.584" v="74" actId="1076"/>
        <pc:sldMkLst>
          <pc:docMk/>
          <pc:sldMk cId="1201937569" sldId="266"/>
        </pc:sldMkLst>
        <pc:spChg chg="mod">
          <ac:chgData name="SM65 Sruthi Geervani.M" userId="54e12d9ceefaabec" providerId="LiveId" clId="{1C34CB98-F855-45E3-9FC0-920919311A43}" dt="2025-09-23T12:12:15.584" v="74" actId="1076"/>
          <ac:spMkLst>
            <pc:docMk/>
            <pc:sldMk cId="1201937569" sldId="266"/>
            <ac:spMk id="6" creationId="{8DA8F1DC-F04E-E393-8136-BEDF3BCAD8C7}"/>
          </ac:spMkLst>
        </pc:spChg>
      </pc:sldChg>
      <pc:sldChg chg="modSp mod">
        <pc:chgData name="SM65 Sruthi Geervani.M" userId="54e12d9ceefaabec" providerId="LiveId" clId="{1C34CB98-F855-45E3-9FC0-920919311A43}" dt="2025-09-23T12:41:09.933" v="550" actId="1076"/>
        <pc:sldMkLst>
          <pc:docMk/>
          <pc:sldMk cId="2669493045" sldId="267"/>
        </pc:sldMkLst>
        <pc:spChg chg="mod">
          <ac:chgData name="SM65 Sruthi Geervani.M" userId="54e12d9ceefaabec" providerId="LiveId" clId="{1C34CB98-F855-45E3-9FC0-920919311A43}" dt="2025-09-23T12:41:09.933" v="550" actId="1076"/>
          <ac:spMkLst>
            <pc:docMk/>
            <pc:sldMk cId="2669493045" sldId="267"/>
            <ac:spMk id="4" creationId="{EEACD506-E666-39A7-7AFB-1581FB20A548}"/>
          </ac:spMkLst>
        </pc:spChg>
        <pc:spChg chg="mod">
          <ac:chgData name="SM65 Sruthi Geervani.M" userId="54e12d9ceefaabec" providerId="LiveId" clId="{1C34CB98-F855-45E3-9FC0-920919311A43}" dt="2025-09-23T12:23:29.470" v="240" actId="123"/>
          <ac:spMkLst>
            <pc:docMk/>
            <pc:sldMk cId="2669493045" sldId="267"/>
            <ac:spMk id="6" creationId="{3821A69A-F44F-B38F-C6DD-7B98DC07F306}"/>
          </ac:spMkLst>
        </pc:spChg>
        <pc:graphicFrameChg chg="mod">
          <ac:chgData name="SM65 Sruthi Geervani.M" userId="54e12d9ceefaabec" providerId="LiveId" clId="{1C34CB98-F855-45E3-9FC0-920919311A43}" dt="2025-09-23T12:10:54.911" v="69" actId="14100"/>
          <ac:graphicFrameMkLst>
            <pc:docMk/>
            <pc:sldMk cId="2669493045" sldId="267"/>
            <ac:graphicFrameMk id="3" creationId="{B8D0C749-19A0-49B8-A314-547C69985782}"/>
          </ac:graphicFrameMkLst>
        </pc:graphicFrameChg>
      </pc:sldChg>
      <pc:sldChg chg="modSp mod">
        <pc:chgData name="SM65 Sruthi Geervani.M" userId="54e12d9ceefaabec" providerId="LiveId" clId="{1C34CB98-F855-45E3-9FC0-920919311A43}" dt="2025-09-23T12:41:16.915" v="551" actId="1076"/>
        <pc:sldMkLst>
          <pc:docMk/>
          <pc:sldMk cId="2315382332" sldId="268"/>
        </pc:sldMkLst>
        <pc:spChg chg="mod">
          <ac:chgData name="SM65 Sruthi Geervani.M" userId="54e12d9ceefaabec" providerId="LiveId" clId="{1C34CB98-F855-45E3-9FC0-920919311A43}" dt="2025-09-23T12:41:16.915" v="551" actId="1076"/>
          <ac:spMkLst>
            <pc:docMk/>
            <pc:sldMk cId="2315382332" sldId="268"/>
            <ac:spMk id="4" creationId="{9011EE03-F59F-FBD6-9EFF-48D80C0EC77D}"/>
          </ac:spMkLst>
        </pc:spChg>
        <pc:spChg chg="mod">
          <ac:chgData name="SM65 Sruthi Geervani.M" userId="54e12d9ceefaabec" providerId="LiveId" clId="{1C34CB98-F855-45E3-9FC0-920919311A43}" dt="2025-09-23T12:37:19.797" v="501" actId="20577"/>
          <ac:spMkLst>
            <pc:docMk/>
            <pc:sldMk cId="2315382332" sldId="268"/>
            <ac:spMk id="6" creationId="{3152D361-ED05-391F-143C-8C8F728A95A3}"/>
          </ac:spMkLst>
        </pc:spChg>
      </pc:sldChg>
      <pc:sldChg chg="modSp mod">
        <pc:chgData name="SM65 Sruthi Geervani.M" userId="54e12d9ceefaabec" providerId="LiveId" clId="{1C34CB98-F855-45E3-9FC0-920919311A43}" dt="2025-09-23T12:41:25.574" v="552" actId="1076"/>
        <pc:sldMkLst>
          <pc:docMk/>
          <pc:sldMk cId="2942204940" sldId="269"/>
        </pc:sldMkLst>
        <pc:spChg chg="mod">
          <ac:chgData name="SM65 Sruthi Geervani.M" userId="54e12d9ceefaabec" providerId="LiveId" clId="{1C34CB98-F855-45E3-9FC0-920919311A43}" dt="2025-09-23T12:41:25.574" v="552" actId="1076"/>
          <ac:spMkLst>
            <pc:docMk/>
            <pc:sldMk cId="2942204940" sldId="269"/>
            <ac:spMk id="4" creationId="{DD6F6199-B410-531F-20FC-9CBBD8E5B24F}"/>
          </ac:spMkLst>
        </pc:spChg>
        <pc:spChg chg="mod">
          <ac:chgData name="SM65 Sruthi Geervani.M" userId="54e12d9ceefaabec" providerId="LiveId" clId="{1C34CB98-F855-45E3-9FC0-920919311A43}" dt="2025-09-23T12:18:45.893" v="113" actId="123"/>
          <ac:spMkLst>
            <pc:docMk/>
            <pc:sldMk cId="2942204940" sldId="269"/>
            <ac:spMk id="6" creationId="{B22C4890-B8A5-C5F8-4DF3-F32E3AD6E3FA}"/>
          </ac:spMkLst>
        </pc:spChg>
      </pc:sldChg>
      <pc:sldChg chg="modSp mod">
        <pc:chgData name="SM65 Sruthi Geervani.M" userId="54e12d9ceefaabec" providerId="LiveId" clId="{1C34CB98-F855-45E3-9FC0-920919311A43}" dt="2025-09-23T12:41:30.735" v="553" actId="1076"/>
        <pc:sldMkLst>
          <pc:docMk/>
          <pc:sldMk cId="3744410800" sldId="270"/>
        </pc:sldMkLst>
        <pc:spChg chg="mod">
          <ac:chgData name="SM65 Sruthi Geervani.M" userId="54e12d9ceefaabec" providerId="LiveId" clId="{1C34CB98-F855-45E3-9FC0-920919311A43}" dt="2025-09-23T12:41:30.735" v="553" actId="1076"/>
          <ac:spMkLst>
            <pc:docMk/>
            <pc:sldMk cId="3744410800" sldId="270"/>
            <ac:spMk id="4" creationId="{8716C751-EF8C-21D1-3C2D-8F3F07E44ED8}"/>
          </ac:spMkLst>
        </pc:spChg>
        <pc:spChg chg="mod">
          <ac:chgData name="SM65 Sruthi Geervani.M" userId="54e12d9ceefaabec" providerId="LiveId" clId="{1C34CB98-F855-45E3-9FC0-920919311A43}" dt="2025-09-23T12:18:38.876" v="112" actId="123"/>
          <ac:spMkLst>
            <pc:docMk/>
            <pc:sldMk cId="3744410800" sldId="270"/>
            <ac:spMk id="6" creationId="{69DDBEEC-F2FD-E143-BEA5-EE4E80BA4323}"/>
          </ac:spMkLst>
        </pc:spChg>
        <pc:graphicFrameChg chg="mod">
          <ac:chgData name="SM65 Sruthi Geervani.M" userId="54e12d9ceefaabec" providerId="LiveId" clId="{1C34CB98-F855-45E3-9FC0-920919311A43}" dt="2025-09-23T12:17:54.006" v="105" actId="1076"/>
          <ac:graphicFrameMkLst>
            <pc:docMk/>
            <pc:sldMk cId="3744410800" sldId="270"/>
            <ac:graphicFrameMk id="2" creationId="{E2E0C27D-95FB-4A56-90F4-EBA468C3DBD2}"/>
          </ac:graphicFrameMkLst>
        </pc:graphicFrameChg>
      </pc:sldChg>
      <pc:sldChg chg="modSp mod">
        <pc:chgData name="SM65 Sruthi Geervani.M" userId="54e12d9ceefaabec" providerId="LiveId" clId="{1C34CB98-F855-45E3-9FC0-920919311A43}" dt="2025-09-23T12:48:37.770" v="600" actId="1076"/>
        <pc:sldMkLst>
          <pc:docMk/>
          <pc:sldMk cId="3162693564" sldId="271"/>
        </pc:sldMkLst>
        <pc:spChg chg="mod">
          <ac:chgData name="SM65 Sruthi Geervani.M" userId="54e12d9ceefaabec" providerId="LiveId" clId="{1C34CB98-F855-45E3-9FC0-920919311A43}" dt="2025-09-23T12:48:37.770" v="600" actId="1076"/>
          <ac:spMkLst>
            <pc:docMk/>
            <pc:sldMk cId="3162693564" sldId="271"/>
            <ac:spMk id="3" creationId="{6D5BD4D1-772F-EDF3-9228-E905C0C49A1A}"/>
          </ac:spMkLst>
        </pc:spChg>
      </pc:sldChg>
      <pc:sldChg chg="modSp mod ord">
        <pc:chgData name="SM65 Sruthi Geervani.M" userId="54e12d9ceefaabec" providerId="LiveId" clId="{1C34CB98-F855-45E3-9FC0-920919311A43}" dt="2025-09-23T12:48:51.608" v="602" actId="1076"/>
        <pc:sldMkLst>
          <pc:docMk/>
          <pc:sldMk cId="1102869616" sldId="272"/>
        </pc:sldMkLst>
        <pc:spChg chg="mod">
          <ac:chgData name="SM65 Sruthi Geervani.M" userId="54e12d9ceefaabec" providerId="LiveId" clId="{1C34CB98-F855-45E3-9FC0-920919311A43}" dt="2025-09-23T12:48:51.608" v="602" actId="1076"/>
          <ac:spMkLst>
            <pc:docMk/>
            <pc:sldMk cId="1102869616" sldId="272"/>
            <ac:spMk id="3" creationId="{83C52E8C-B8A7-8DF1-BB93-9E374A235A30}"/>
          </ac:spMkLst>
        </pc:spChg>
      </pc:sldChg>
      <pc:sldChg chg="addSp delSp modSp new mod">
        <pc:chgData name="SM65 Sruthi Geervani.M" userId="54e12d9ceefaabec" providerId="LiveId" clId="{1C34CB98-F855-45E3-9FC0-920919311A43}" dt="2025-09-23T12:42:19.813" v="558" actId="1076"/>
        <pc:sldMkLst>
          <pc:docMk/>
          <pc:sldMk cId="3838494462" sldId="273"/>
        </pc:sldMkLst>
        <pc:spChg chg="add mod">
          <ac:chgData name="SM65 Sruthi Geervani.M" userId="54e12d9ceefaabec" providerId="LiveId" clId="{1C34CB98-F855-45E3-9FC0-920919311A43}" dt="2025-09-23T12:42:19.813" v="558" actId="1076"/>
          <ac:spMkLst>
            <pc:docMk/>
            <pc:sldMk cId="3838494462" sldId="273"/>
            <ac:spMk id="3" creationId="{968E946B-6C51-78F6-A44F-F9F238E338CE}"/>
          </ac:spMkLst>
        </pc:spChg>
        <pc:spChg chg="add mod">
          <ac:chgData name="SM65 Sruthi Geervani.M" userId="54e12d9ceefaabec" providerId="LiveId" clId="{1C34CB98-F855-45E3-9FC0-920919311A43}" dt="2025-09-23T12:37:02.242" v="492" actId="20577"/>
          <ac:spMkLst>
            <pc:docMk/>
            <pc:sldMk cId="3838494462" sldId="273"/>
            <ac:spMk id="6" creationId="{3F4F9EAE-1627-395E-7540-751AA54262D6}"/>
          </ac:spMkLst>
        </pc:spChg>
        <pc:graphicFrameChg chg="add del mod">
          <ac:chgData name="SM65 Sruthi Geervani.M" userId="54e12d9ceefaabec" providerId="LiveId" clId="{1C34CB98-F855-45E3-9FC0-920919311A43}" dt="2025-09-23T12:28:24.228" v="329" actId="478"/>
          <ac:graphicFrameMkLst>
            <pc:docMk/>
            <pc:sldMk cId="3838494462" sldId="273"/>
            <ac:graphicFrameMk id="4" creationId="{E2E0C27D-95FB-4A56-90F4-EBA468C3DBD2}"/>
          </ac:graphicFrameMkLst>
        </pc:graphicFrameChg>
        <pc:graphicFrameChg chg="add mod">
          <ac:chgData name="SM65 Sruthi Geervani.M" userId="54e12d9ceefaabec" providerId="LiveId" clId="{1C34CB98-F855-45E3-9FC0-920919311A43}" dt="2025-09-23T12:29:47.855" v="388"/>
          <ac:graphicFrameMkLst>
            <pc:docMk/>
            <pc:sldMk cId="3838494462" sldId="273"/>
            <ac:graphicFrameMk id="5" creationId="{93915CAF-AB5E-4B00-8C47-78B90ADF25E4}"/>
          </ac:graphicFrameMkLst>
        </pc:graphicFrameChg>
      </pc:sldChg>
      <pc:sldChg chg="addSp modSp new mod">
        <pc:chgData name="SM65 Sruthi Geervani.M" userId="54e12d9ceefaabec" providerId="LiveId" clId="{1C34CB98-F855-45E3-9FC0-920919311A43}" dt="2025-09-23T12:36:19.307" v="472" actId="14100"/>
        <pc:sldMkLst>
          <pc:docMk/>
          <pc:sldMk cId="4001370970" sldId="274"/>
        </pc:sldMkLst>
        <pc:spChg chg="add mod">
          <ac:chgData name="SM65 Sruthi Geervani.M" userId="54e12d9ceefaabec" providerId="LiveId" clId="{1C34CB98-F855-45E3-9FC0-920919311A43}" dt="2025-09-23T12:34:55.932" v="460" actId="1076"/>
          <ac:spMkLst>
            <pc:docMk/>
            <pc:sldMk cId="4001370970" sldId="274"/>
            <ac:spMk id="3" creationId="{712D12EF-9A77-0C5F-B1DB-250070064990}"/>
          </ac:spMkLst>
        </pc:spChg>
        <pc:spChg chg="add mod">
          <ac:chgData name="SM65 Sruthi Geervani.M" userId="54e12d9ceefaabec" providerId="LiveId" clId="{1C34CB98-F855-45E3-9FC0-920919311A43}" dt="2025-09-23T12:36:19.307" v="472" actId="14100"/>
          <ac:spMkLst>
            <pc:docMk/>
            <pc:sldMk cId="4001370970" sldId="274"/>
            <ac:spMk id="4" creationId="{7D6A3F44-E02F-7799-91BC-08888116F0A1}"/>
          </ac:spMkLst>
        </pc:spChg>
        <pc:graphicFrameChg chg="add mod">
          <ac:chgData name="SM65 Sruthi Geervani.M" userId="54e12d9ceefaabec" providerId="LiveId" clId="{1C34CB98-F855-45E3-9FC0-920919311A43}" dt="2025-09-23T12:35:24.905" v="464" actId="14100"/>
          <ac:graphicFrameMkLst>
            <pc:docMk/>
            <pc:sldMk cId="4001370970" sldId="274"/>
            <ac:graphicFrameMk id="2" creationId="{3F52BC40-DE9F-4226-9E36-8717C50DA30B}"/>
          </ac:graphicFrameMkLst>
        </pc:graphicFrameChg>
      </pc:sldChg>
      <pc:sldChg chg="addSp modSp new mod">
        <pc:chgData name="SM65 Sruthi Geervani.M" userId="54e12d9ceefaabec" providerId="LiveId" clId="{1C34CB98-F855-45E3-9FC0-920919311A43}" dt="2025-09-23T12:42:00.318" v="556" actId="1076"/>
        <pc:sldMkLst>
          <pc:docMk/>
          <pc:sldMk cId="3506875780" sldId="275"/>
        </pc:sldMkLst>
        <pc:spChg chg="add mod">
          <ac:chgData name="SM65 Sruthi Geervani.M" userId="54e12d9ceefaabec" providerId="LiveId" clId="{1C34CB98-F855-45E3-9FC0-920919311A43}" dt="2025-09-23T12:39:46.331" v="510" actId="1076"/>
          <ac:spMkLst>
            <pc:docMk/>
            <pc:sldMk cId="3506875780" sldId="275"/>
            <ac:spMk id="3" creationId="{6457BDC5-4A98-5B3F-6CEB-7490DC433ED4}"/>
          </ac:spMkLst>
        </pc:spChg>
        <pc:spChg chg="add mod">
          <ac:chgData name="SM65 Sruthi Geervani.M" userId="54e12d9ceefaabec" providerId="LiveId" clId="{1C34CB98-F855-45E3-9FC0-920919311A43}" dt="2025-09-23T12:42:00.318" v="556" actId="1076"/>
          <ac:spMkLst>
            <pc:docMk/>
            <pc:sldMk cId="3506875780" sldId="275"/>
            <ac:spMk id="5" creationId="{8ACA7F8E-2EFF-98A3-4D63-119EB167914D}"/>
          </ac:spMkLst>
        </pc:spChg>
        <pc:graphicFrameChg chg="add mod">
          <ac:chgData name="SM65 Sruthi Geervani.M" userId="54e12d9ceefaabec" providerId="LiveId" clId="{1C34CB98-F855-45E3-9FC0-920919311A43}" dt="2025-09-23T12:40:15.930" v="515" actId="1076"/>
          <ac:graphicFrameMkLst>
            <pc:docMk/>
            <pc:sldMk cId="3506875780" sldId="275"/>
            <ac:graphicFrameMk id="4" creationId="{32D7420B-52E3-434F-835A-DB13F7CBEF7F}"/>
          </ac:graphicFrameMkLst>
        </pc:graphicFrameChg>
      </pc:sldChg>
      <pc:sldChg chg="addSp modSp new mod">
        <pc:chgData name="SM65 Sruthi Geervani.M" userId="54e12d9ceefaabec" providerId="LiveId" clId="{1C34CB98-F855-45E3-9FC0-920919311A43}" dt="2025-09-23T12:49:14.047" v="603" actId="1076"/>
        <pc:sldMkLst>
          <pc:docMk/>
          <pc:sldMk cId="1958896439" sldId="276"/>
        </pc:sldMkLst>
        <pc:spChg chg="add mod">
          <ac:chgData name="SM65 Sruthi Geervani.M" userId="54e12d9ceefaabec" providerId="LiveId" clId="{1C34CB98-F855-45E3-9FC0-920919311A43}" dt="2025-09-23T12:49:14.047" v="603" actId="1076"/>
          <ac:spMkLst>
            <pc:docMk/>
            <pc:sldMk cId="1958896439" sldId="276"/>
            <ac:spMk id="2" creationId="{E8E28DAC-0241-7ACE-C639-0AA462C83F22}"/>
          </ac:spMkLst>
        </pc:spChg>
        <pc:spChg chg="add mod">
          <ac:chgData name="SM65 Sruthi Geervani.M" userId="54e12d9ceefaabec" providerId="LiveId" clId="{1C34CB98-F855-45E3-9FC0-920919311A43}" dt="2025-09-23T12:48:29.309" v="599" actId="1076"/>
          <ac:spMkLst>
            <pc:docMk/>
            <pc:sldMk cId="1958896439" sldId="276"/>
            <ac:spMk id="4" creationId="{5E85A1BA-B84F-4235-EB3E-EBE3E22EE06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54e12d9ceefaabec/Desktop/Sruthi's%20IT%20Tickets%20Analysis%5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4e12d9ceefaabec/Desktop/Sruthi's%20IT%20Tickets%20Analysis%5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4e12d9ceefaabec/Desktop/Sruthi's%20IT%20Tickets%20Analysis%5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54e12d9ceefaabec/Desktop/Sruthi's%20IT%20Tickets%20Analysis%5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54e12d9ceefaabec/Desktop/Sruthi's%20IT%20Tickets%20Analysis%5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54e12d9ceefaabec/Desktop/Sruthi's%20IT%20Tickets%20Analysis%5e.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1" Type="http://schemas.openxmlformats.org/officeDocument/2006/relationships/oleObject" Target="https://d.docs.live.net/54e12d9ceefaabec/Desktop/Sruthi's%20IT%20Tickets%20Analysis%5e.xlsx" TargetMode="Externa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54e12d9ceefaabec/Desktop/Sruthi's%20IT%20Tickets%20Analysis%5e.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[Sruthi's IT Tickets Analysis^.xlsx]PivotTables!1</c:name>
    <c:fmtId val="-1"/>
  </c:pivotSource>
  <c:chart>
    <c:title>
      <c:tx>
        <c:rich>
          <a:bodyPr rot="0" spcFirstLastPara="1" vertOverflow="ellipsis" vert="horz" wrap="square" anchor="ctr" anchorCtr="1"/>
          <a:lstStyle/>
          <a:p>
            <a:pPr>
              <a:defRPr sz="1100" b="0" i="0" u="none" strike="noStrike" kern="1200" spc="0" baseline="0">
                <a:solidFill>
                  <a:schemeClr val="tx1">
                    <a:lumMod val="95000"/>
                    <a:lumOff val="5000"/>
                  </a:schemeClr>
                </a:solidFill>
                <a:latin typeface="+mn-lt"/>
                <a:ea typeface="+mn-ea"/>
                <a:cs typeface="+mn-cs"/>
              </a:defRPr>
            </a:pPr>
            <a:r>
              <a:rPr lang="en-IN" sz="1100">
                <a:solidFill>
                  <a:schemeClr val="tx1">
                    <a:lumMod val="95000"/>
                    <a:lumOff val="5000"/>
                  </a:schemeClr>
                </a:solidFill>
              </a:rPr>
              <a:t>COUNT OF TICKET ID BY TIME</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95000"/>
                  <a:lumOff val="5000"/>
                </a:schemeClr>
              </a:solidFill>
              <a:latin typeface="+mn-lt"/>
              <a:ea typeface="+mn-ea"/>
              <a:cs typeface="+mn-cs"/>
            </a:defRPr>
          </a:pPr>
          <a:endParaRPr lang="en-IN"/>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PivotTables!$N$64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poly"/>
            <c:order val="2"/>
            <c:dispRSqr val="0"/>
            <c:dispEq val="0"/>
          </c:trendline>
          <c:cat>
            <c:strRef>
              <c:f>PivotTables!$M$65:$M$70</c:f>
              <c:strCache>
                <c:ptCount val="5"/>
                <c:pt idx="0">
                  <c:v>2016</c:v>
                </c:pt>
                <c:pt idx="1">
                  <c:v>2017</c:v>
                </c:pt>
                <c:pt idx="2">
                  <c:v>2018</c:v>
                </c:pt>
                <c:pt idx="3">
                  <c:v>2019</c:v>
                </c:pt>
                <c:pt idx="4">
                  <c:v>2020</c:v>
                </c:pt>
              </c:strCache>
            </c:strRef>
          </c:cat>
          <c:val>
            <c:numRef>
              <c:f>PivotTables!$N$65:$N$70</c:f>
              <c:numCache>
                <c:formatCode>General</c:formatCode>
                <c:ptCount val="5"/>
                <c:pt idx="0">
                  <c:v>13051</c:v>
                </c:pt>
                <c:pt idx="1">
                  <c:v>14915</c:v>
                </c:pt>
                <c:pt idx="2">
                  <c:v>18954</c:v>
                </c:pt>
                <c:pt idx="3">
                  <c:v>21490</c:v>
                </c:pt>
                <c:pt idx="4">
                  <c:v>29088</c:v>
                </c:pt>
              </c:numCache>
            </c:numRef>
          </c:val>
          <c:extLst>
            <c:ext xmlns:c16="http://schemas.microsoft.com/office/drawing/2014/chart" uri="{C3380CC4-5D6E-409C-BE32-E72D297353CC}">
              <c16:uniqueId val="{00000001-F5FE-4B40-A933-6DDE76081628}"/>
            </c:ext>
          </c:extLst>
        </c:ser>
        <c:dLbls>
          <c:dLblPos val="outEnd"/>
          <c:showLegendKey val="0"/>
          <c:showVal val="1"/>
          <c:showCatName val="0"/>
          <c:showSerName val="0"/>
          <c:showPercent val="0"/>
          <c:showBubbleSize val="0"/>
        </c:dLbls>
        <c:gapWidth val="219"/>
        <c:overlap val="-27"/>
        <c:axId val="111658960"/>
        <c:axId val="111674800"/>
      </c:barChart>
      <c:catAx>
        <c:axId val="1116589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674800"/>
        <c:crosses val="autoZero"/>
        <c:auto val="1"/>
        <c:lblAlgn val="ctr"/>
        <c:lblOffset val="100"/>
        <c:noMultiLvlLbl val="0"/>
      </c:catAx>
      <c:valAx>
        <c:axId val="111674800"/>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a:t>
                </a:r>
                <a:r>
                  <a:rPr lang="en-IN" baseline="0"/>
                  <a:t> OF TICKET ID</a:t>
                </a:r>
                <a:r>
                  <a:rPr lang="en-IN"/>
                  <a:t> </a:t>
                </a:r>
              </a:p>
            </c:rich>
          </c:tx>
          <c:layout>
            <c:manualLayout>
              <c:xMode val="edge"/>
              <c:yMode val="edge"/>
              <c:x val="3.3619885500464755E-2"/>
              <c:y val="0.1988964395170566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116589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[Sruthi's IT Tickets Analysis^.xlsx]PivotTables!2</c:name>
    <c:fmtId val="-1"/>
  </c:pivotSource>
  <c:chart>
    <c:title>
      <c:tx>
        <c:rich>
          <a:bodyPr rot="0" spcFirstLastPara="1" vertOverflow="ellipsis" vert="horz" wrap="square" anchor="ctr" anchorCtr="1"/>
          <a:lstStyle/>
          <a:p>
            <a:pPr>
              <a:defRPr sz="1080" b="0" i="0" u="none" strike="noStrike" kern="1200" spc="0" baseline="0">
                <a:solidFill>
                  <a:schemeClr val="tx1">
                    <a:lumMod val="95000"/>
                    <a:lumOff val="5000"/>
                  </a:schemeClr>
                </a:solidFill>
                <a:latin typeface="+mn-lt"/>
                <a:ea typeface="+mn-ea"/>
                <a:cs typeface="+mn-cs"/>
              </a:defRPr>
            </a:pPr>
            <a:r>
              <a:rPr lang="en-US">
                <a:solidFill>
                  <a:schemeClr val="tx1">
                    <a:lumMod val="95000"/>
                    <a:lumOff val="5000"/>
                  </a:schemeClr>
                </a:solidFill>
              </a:rPr>
              <a:t>COUNT OF TICKET ID BY REQUEST CATEGORY</a:t>
            </a:r>
          </a:p>
        </c:rich>
      </c:tx>
      <c:layout>
        <c:manualLayout>
          <c:xMode val="edge"/>
          <c:yMode val="edge"/>
          <c:x val="0.19506220153821899"/>
          <c:y val="8.0601163083713151E-2"/>
        </c:manualLayout>
      </c:layout>
      <c:overlay val="0"/>
      <c:spPr>
        <a:noFill/>
        <a:ln>
          <a:noFill/>
        </a:ln>
        <a:effectLst/>
      </c:spPr>
      <c:txPr>
        <a:bodyPr rot="0" spcFirstLastPara="1" vertOverflow="ellipsis" vert="horz" wrap="square" anchor="ctr" anchorCtr="1"/>
        <a:lstStyle/>
        <a:p>
          <a:pPr>
            <a:defRPr sz="1080" b="0" i="0" u="none" strike="noStrike" kern="1200" spc="0" baseline="0">
              <a:solidFill>
                <a:schemeClr val="tx1">
                  <a:lumMod val="95000"/>
                  <a:lumOff val="5000"/>
                </a:schemeClr>
              </a:solidFill>
              <a:latin typeface="+mn-lt"/>
              <a:ea typeface="+mn-ea"/>
              <a:cs typeface="+mn-cs"/>
            </a:defRPr>
          </a:pPr>
          <a:endParaRPr lang="en-US"/>
        </a:p>
      </c:txPr>
    </c:title>
    <c:autoTitleDeleted val="0"/>
    <c:pivotFmts>
      <c:pivotFmt>
        <c:idx val="0"/>
        <c:spPr>
          <a:solidFill>
            <a:schemeClr val="accent5"/>
          </a:solidFill>
          <a:ln w="19050">
            <a:solidFill>
              <a:schemeClr val="lt1"/>
            </a:solidFill>
          </a:ln>
          <a:effectLst/>
          <a:sp3d contourW="25400">
            <a:contourClr>
              <a:schemeClr val="lt1"/>
            </a:contourClr>
          </a:sp3d>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solidFill>
          <a:ln w="1905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5"/>
          </a:solidFill>
          <a:ln w="19050">
            <a:solidFill>
              <a:schemeClr val="lt1"/>
            </a:solidFill>
          </a:ln>
          <a:effectLst/>
          <a:sp3d contourW="25400">
            <a:contourClr>
              <a:schemeClr val="lt1"/>
            </a:contourClr>
          </a:sp3d>
        </c:spPr>
      </c:pivotFmt>
      <c:pivotFmt>
        <c:idx val="3"/>
        <c:spPr>
          <a:solidFill>
            <a:schemeClr val="accent5"/>
          </a:solidFill>
          <a:ln w="19050">
            <a:solidFill>
              <a:schemeClr val="lt1"/>
            </a:solidFill>
          </a:ln>
          <a:effectLst/>
          <a:sp3d contourW="25400">
            <a:contourClr>
              <a:schemeClr val="lt1"/>
            </a:contourClr>
          </a:sp3d>
        </c:spPr>
      </c:pivotFmt>
      <c:pivotFmt>
        <c:idx val="4"/>
        <c:spPr>
          <a:solidFill>
            <a:schemeClr val="accent5"/>
          </a:solidFill>
          <a:ln w="19050">
            <a:solidFill>
              <a:schemeClr val="lt1"/>
            </a:solidFill>
          </a:ln>
          <a:effectLst/>
          <a:sp3d contourW="25400">
            <a:contourClr>
              <a:schemeClr val="lt1"/>
            </a:contourClr>
          </a:sp3d>
        </c:spPr>
      </c:pivotFmt>
      <c:pivotFmt>
        <c:idx val="5"/>
        <c:spPr>
          <a:solidFill>
            <a:schemeClr val="accent5"/>
          </a:solidFill>
          <a:ln w="19050">
            <a:solidFill>
              <a:schemeClr val="lt1"/>
            </a:solidFill>
          </a:ln>
          <a:effectLst/>
          <a:sp3d contourW="25400">
            <a:contourClr>
              <a:schemeClr val="lt1"/>
            </a:contourClr>
          </a:sp3d>
        </c:spPr>
      </c:pivotFmt>
      <c:pivotFmt>
        <c:idx val="6"/>
        <c:spPr>
          <a:solidFill>
            <a:schemeClr val="accent5"/>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5">
              <a:shade val="58000"/>
            </a:schemeClr>
          </a:solidFill>
          <a:ln w="25400">
            <a:solidFill>
              <a:schemeClr val="lt1"/>
            </a:solidFill>
          </a:ln>
          <a:effectLst/>
          <a:sp3d contourW="25400">
            <a:contourClr>
              <a:schemeClr val="lt1"/>
            </a:contourClr>
          </a:sp3d>
        </c:spPr>
      </c:pivotFmt>
      <c:pivotFmt>
        <c:idx val="8"/>
        <c:spPr>
          <a:solidFill>
            <a:schemeClr val="accent5">
              <a:shade val="86000"/>
            </a:schemeClr>
          </a:solidFill>
          <a:ln w="25400">
            <a:solidFill>
              <a:schemeClr val="lt1"/>
            </a:solidFill>
          </a:ln>
          <a:effectLst/>
          <a:sp3d contourW="25400">
            <a:contourClr>
              <a:schemeClr val="lt1"/>
            </a:contourClr>
          </a:sp3d>
        </c:spPr>
      </c:pivotFmt>
      <c:pivotFmt>
        <c:idx val="9"/>
        <c:spPr>
          <a:solidFill>
            <a:schemeClr val="accent5">
              <a:tint val="86000"/>
            </a:schemeClr>
          </a:solidFill>
          <a:ln w="25400">
            <a:solidFill>
              <a:schemeClr val="lt1"/>
            </a:solidFill>
          </a:ln>
          <a:effectLst/>
          <a:sp3d contourW="25400">
            <a:contourClr>
              <a:schemeClr val="lt1"/>
            </a:contourClr>
          </a:sp3d>
        </c:spPr>
      </c:pivotFmt>
      <c:pivotFmt>
        <c:idx val="10"/>
        <c:spPr>
          <a:solidFill>
            <a:schemeClr val="accent5">
              <a:tint val="58000"/>
            </a:schemeClr>
          </a:solidFill>
          <a:ln w="25400">
            <a:solidFill>
              <a:schemeClr val="lt1"/>
            </a:solidFill>
          </a:ln>
          <a:effectLst/>
          <a:sp3d contourW="25400">
            <a:contourClr>
              <a:schemeClr val="lt1"/>
            </a:contourClr>
          </a:sp3d>
        </c:spPr>
      </c:pivotFmt>
      <c:pivotFmt>
        <c:idx val="11"/>
        <c:spPr>
          <a:solidFill>
            <a:schemeClr val="accent5"/>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5">
              <a:shade val="58000"/>
            </a:schemeClr>
          </a:solidFill>
          <a:ln w="25400">
            <a:solidFill>
              <a:schemeClr val="lt1"/>
            </a:solidFill>
          </a:ln>
          <a:effectLst/>
          <a:sp3d contourW="25400">
            <a:contourClr>
              <a:schemeClr val="lt1"/>
            </a:contourClr>
          </a:sp3d>
        </c:spPr>
      </c:pivotFmt>
      <c:pivotFmt>
        <c:idx val="13"/>
        <c:spPr>
          <a:solidFill>
            <a:schemeClr val="accent5">
              <a:shade val="86000"/>
            </a:schemeClr>
          </a:solidFill>
          <a:ln w="25400">
            <a:solidFill>
              <a:schemeClr val="lt1"/>
            </a:solidFill>
          </a:ln>
          <a:effectLst/>
          <a:sp3d contourW="25400">
            <a:contourClr>
              <a:schemeClr val="lt1"/>
            </a:contourClr>
          </a:sp3d>
        </c:spPr>
      </c:pivotFmt>
      <c:pivotFmt>
        <c:idx val="14"/>
        <c:spPr>
          <a:solidFill>
            <a:schemeClr val="accent5">
              <a:tint val="86000"/>
            </a:schemeClr>
          </a:solidFill>
          <a:ln w="25400">
            <a:solidFill>
              <a:schemeClr val="lt1"/>
            </a:solidFill>
          </a:ln>
          <a:effectLst/>
          <a:sp3d contourW="25400">
            <a:contourClr>
              <a:schemeClr val="lt1"/>
            </a:contourClr>
          </a:sp3d>
        </c:spPr>
      </c:pivotFmt>
      <c:pivotFmt>
        <c:idx val="15"/>
        <c:spPr>
          <a:solidFill>
            <a:schemeClr val="accent5">
              <a:tint val="58000"/>
            </a:schemeClr>
          </a:solidFill>
          <a:ln w="25400">
            <a:solidFill>
              <a:schemeClr val="lt1"/>
            </a:solidFill>
          </a:ln>
          <a:effectLst/>
          <a:sp3d contourW="25400">
            <a:contourClr>
              <a:schemeClr val="lt1"/>
            </a:contourClr>
          </a:sp3d>
        </c:spPr>
      </c:pivotFmt>
      <c:pivotFmt>
        <c:idx val="16"/>
        <c:spPr>
          <a:solidFill>
            <a:schemeClr val="accent5"/>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5">
              <a:shade val="58000"/>
            </a:schemeClr>
          </a:solidFill>
          <a:ln w="25400">
            <a:solidFill>
              <a:schemeClr val="lt1"/>
            </a:solidFill>
          </a:ln>
          <a:effectLst/>
          <a:sp3d contourW="25400">
            <a:contourClr>
              <a:schemeClr val="lt1"/>
            </a:contourClr>
          </a:sp3d>
        </c:spPr>
      </c:pivotFmt>
      <c:pivotFmt>
        <c:idx val="18"/>
        <c:spPr>
          <a:solidFill>
            <a:schemeClr val="accent5">
              <a:shade val="86000"/>
            </a:schemeClr>
          </a:solidFill>
          <a:ln w="25400">
            <a:solidFill>
              <a:schemeClr val="lt1"/>
            </a:solidFill>
          </a:ln>
          <a:effectLst/>
          <a:sp3d contourW="25400">
            <a:contourClr>
              <a:schemeClr val="lt1"/>
            </a:contourClr>
          </a:sp3d>
        </c:spPr>
      </c:pivotFmt>
      <c:pivotFmt>
        <c:idx val="19"/>
        <c:spPr>
          <a:solidFill>
            <a:schemeClr val="accent5">
              <a:tint val="86000"/>
            </a:schemeClr>
          </a:solidFill>
          <a:ln w="25400">
            <a:solidFill>
              <a:schemeClr val="lt1"/>
            </a:solidFill>
          </a:ln>
          <a:effectLst/>
          <a:sp3d contourW="25400">
            <a:contourClr>
              <a:schemeClr val="lt1"/>
            </a:contourClr>
          </a:sp3d>
        </c:spPr>
      </c:pivotFmt>
      <c:pivotFmt>
        <c:idx val="20"/>
        <c:spPr>
          <a:solidFill>
            <a:schemeClr val="accent5">
              <a:tint val="58000"/>
            </a:schemeClr>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0831094235145572"/>
          <c:y val="0.22965922884453202"/>
          <c:w val="0.62647985790726524"/>
          <c:h val="0.69633337492446312"/>
        </c:manualLayout>
      </c:layout>
      <c:pie3DChart>
        <c:varyColors val="1"/>
        <c:ser>
          <c:idx val="0"/>
          <c:order val="0"/>
          <c:tx>
            <c:strRef>
              <c:f>PivotTables!$K$63</c:f>
              <c:strCache>
                <c:ptCount val="1"/>
                <c:pt idx="0">
                  <c:v>Total</c:v>
                </c:pt>
              </c:strCache>
            </c:strRef>
          </c:tx>
          <c:dPt>
            <c:idx val="0"/>
            <c:bubble3D val="0"/>
            <c:spPr>
              <a:solidFill>
                <a:schemeClr val="accent5">
                  <a:shade val="58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BA75-4314-B88C-B2F1B78FCE72}"/>
              </c:ext>
            </c:extLst>
          </c:dPt>
          <c:dPt>
            <c:idx val="1"/>
            <c:bubble3D val="0"/>
            <c:spPr>
              <a:solidFill>
                <a:schemeClr val="accent5">
                  <a:shade val="8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BA75-4314-B88C-B2F1B78FCE72}"/>
              </c:ext>
            </c:extLst>
          </c:dPt>
          <c:dPt>
            <c:idx val="2"/>
            <c:bubble3D val="0"/>
            <c:spPr>
              <a:solidFill>
                <a:schemeClr val="accent5">
                  <a:tint val="8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BA75-4314-B88C-B2F1B78FCE72}"/>
              </c:ext>
            </c:extLst>
          </c:dPt>
          <c:dPt>
            <c:idx val="3"/>
            <c:bubble3D val="0"/>
            <c:spPr>
              <a:solidFill>
                <a:schemeClr val="accent5">
                  <a:tint val="58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BA75-4314-B88C-B2F1B78FCE72}"/>
              </c:ext>
            </c:extLst>
          </c:dPt>
          <c:dLbls>
            <c:dLbl>
              <c:idx val="1"/>
              <c:layout>
                <c:manualLayout>
                  <c:x val="-0.16380297880817701"/>
                  <c:y val="-0.10512245442188854"/>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75-4314-B88C-B2F1B78FCE72}"/>
                </c:ext>
              </c:extLst>
            </c:dLbl>
            <c:dLbl>
              <c:idx val="2"/>
              <c:layout>
                <c:manualLayout>
                  <c:x val="1.2704363708805799E-2"/>
                  <c:y val="-0.28693056413299795"/>
                </c:manualLayout>
              </c:layout>
              <c:dLblPos val="bestFit"/>
              <c:showLegendKey val="0"/>
              <c:showVal val="1"/>
              <c:showCatName val="0"/>
              <c:showSerName val="0"/>
              <c:showPercent val="0"/>
              <c:showBubbleSize val="0"/>
              <c:extLst>
                <c:ext xmlns:c15="http://schemas.microsoft.com/office/drawing/2012/chart" uri="{CE6537A1-D6FC-4f65-9D91-7224C49458BB}">
                  <c15:layout>
                    <c:manualLayout>
                      <c:w val="7.3084484553169765E-2"/>
                      <c:h val="3.100461451837996E-2"/>
                    </c:manualLayout>
                  </c15:layout>
                </c:ext>
                <c:ext xmlns:c16="http://schemas.microsoft.com/office/drawing/2014/chart" uri="{C3380CC4-5D6E-409C-BE32-E72D297353CC}">
                  <c16:uniqueId val="{00000005-BA75-4314-B88C-B2F1B78FCE72}"/>
                </c:ext>
              </c:extLst>
            </c:dLbl>
            <c:dLbl>
              <c:idx val="3"/>
              <c:layout>
                <c:manualLayout>
                  <c:x val="0.15711106080203108"/>
                  <c:y val="7.720222411188083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A75-4314-B88C-B2F1B78FCE72}"/>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PivotTables!$J$64:$J$67</c:f>
              <c:strCache>
                <c:ptCount val="4"/>
                <c:pt idx="0">
                  <c:v>Hardware</c:v>
                </c:pt>
                <c:pt idx="1">
                  <c:v>Login Access</c:v>
                </c:pt>
                <c:pt idx="2">
                  <c:v>Software</c:v>
                </c:pt>
                <c:pt idx="3">
                  <c:v>System</c:v>
                </c:pt>
              </c:strCache>
            </c:strRef>
          </c:cat>
          <c:val>
            <c:numRef>
              <c:f>PivotTables!$K$64:$K$67</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8-BA75-4314-B88C-B2F1B78FCE72}"/>
            </c:ext>
          </c:extLst>
        </c:ser>
        <c:dLbls>
          <c:dLblPos val="bestFit"/>
          <c:showLegendKey val="0"/>
          <c:showVal val="1"/>
          <c:showCatName val="0"/>
          <c:showSerName val="0"/>
          <c:showPercent val="0"/>
          <c:showBubbleSize val="0"/>
          <c:showLeaderLines val="1"/>
        </c:dLbls>
      </c:pie3DChart>
      <c:spPr>
        <a:noFill/>
        <a:ln>
          <a:noFill/>
        </a:ln>
        <a:effectLst/>
      </c:spPr>
    </c:plotArea>
    <c:legend>
      <c:legendPos val="r"/>
      <c:layout>
        <c:manualLayout>
          <c:xMode val="edge"/>
          <c:yMode val="edge"/>
          <c:x val="0.72042527113452592"/>
          <c:y val="0.39573400829795469"/>
          <c:w val="0.25593894786047927"/>
          <c:h val="0.4075042045488036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[Sruthi's IT Tickets Analysis^.xlsx]PivotTables!3</c:name>
    <c:fmtId val="-1"/>
  </c:pivotSource>
  <c:chart>
    <c:title>
      <c:tx>
        <c:rich>
          <a:bodyPr rot="0" spcFirstLastPara="1" vertOverflow="ellipsis" vert="horz" wrap="square" anchor="ctr" anchorCtr="1"/>
          <a:lstStyle/>
          <a:p>
            <a:pPr>
              <a:defRPr sz="1100" b="0" i="0" u="none" strike="noStrike" kern="1200" spc="0" baseline="0">
                <a:solidFill>
                  <a:schemeClr val="tx1">
                    <a:lumMod val="95000"/>
                    <a:lumOff val="5000"/>
                  </a:schemeClr>
                </a:solidFill>
                <a:latin typeface="+mn-lt"/>
                <a:ea typeface="+mn-ea"/>
                <a:cs typeface="+mn-cs"/>
              </a:defRPr>
            </a:pPr>
            <a:r>
              <a:rPr lang="en-IN" sz="1100">
                <a:solidFill>
                  <a:schemeClr val="tx1">
                    <a:lumMod val="95000"/>
                    <a:lumOff val="5000"/>
                  </a:schemeClr>
                </a:solidFill>
              </a:rPr>
              <a:t>SATISFACTION</a:t>
            </a:r>
            <a:r>
              <a:rPr lang="en-IN" sz="1100" baseline="0">
                <a:solidFill>
                  <a:schemeClr val="tx1">
                    <a:lumMod val="95000"/>
                    <a:lumOff val="5000"/>
                  </a:schemeClr>
                </a:solidFill>
              </a:rPr>
              <a:t> RATE BY TIME </a:t>
            </a:r>
            <a:endParaRPr lang="en-IN" sz="110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95000"/>
                  <a:lumOff val="5000"/>
                </a:schemeClr>
              </a:solidFill>
              <a:latin typeface="+mn-lt"/>
              <a:ea typeface="+mn-ea"/>
              <a:cs typeface="+mn-cs"/>
            </a:defRPr>
          </a:pPr>
          <a:endParaRPr lang="en-IN"/>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PivotTables!$Q$64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PivotTables!$P$65:$P$70</c:f>
              <c:strCache>
                <c:ptCount val="5"/>
                <c:pt idx="0">
                  <c:v>2016</c:v>
                </c:pt>
                <c:pt idx="1">
                  <c:v>2017</c:v>
                </c:pt>
                <c:pt idx="2">
                  <c:v>2018</c:v>
                </c:pt>
                <c:pt idx="3">
                  <c:v>2019</c:v>
                </c:pt>
                <c:pt idx="4">
                  <c:v>2020</c:v>
                </c:pt>
              </c:strCache>
            </c:strRef>
          </c:cat>
          <c:val>
            <c:numRef>
              <c:f>PivotTables!$Q$65:$Q$70</c:f>
              <c:numCache>
                <c:formatCode>0.00</c:formatCode>
                <c:ptCount val="5"/>
                <c:pt idx="0">
                  <c:v>3.9796950425254769</c:v>
                </c:pt>
                <c:pt idx="1">
                  <c:v>4.068119342943346</c:v>
                </c:pt>
                <c:pt idx="2">
                  <c:v>4.0918539622243326</c:v>
                </c:pt>
                <c:pt idx="3">
                  <c:v>4.1223825034899955</c:v>
                </c:pt>
                <c:pt idx="4">
                  <c:v>4.1612692519251926</c:v>
                </c:pt>
              </c:numCache>
            </c:numRef>
          </c:val>
          <c:extLst>
            <c:ext xmlns:c16="http://schemas.microsoft.com/office/drawing/2014/chart" uri="{C3380CC4-5D6E-409C-BE32-E72D297353CC}">
              <c16:uniqueId val="{00000000-3E67-4636-A268-6070ECAD4B8E}"/>
            </c:ext>
          </c:extLst>
        </c:ser>
        <c:dLbls>
          <c:showLegendKey val="0"/>
          <c:showVal val="0"/>
          <c:showCatName val="0"/>
          <c:showSerName val="0"/>
          <c:showPercent val="0"/>
          <c:showBubbleSize val="0"/>
        </c:dLbls>
        <c:gapWidth val="150"/>
        <c:axId val="280879840"/>
        <c:axId val="280902880"/>
      </c:barChart>
      <c:catAx>
        <c:axId val="2808798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YEAR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0902880"/>
        <c:crosses val="autoZero"/>
        <c:auto val="1"/>
        <c:lblAlgn val="ctr"/>
        <c:lblOffset val="100"/>
        <c:noMultiLvlLbl val="0"/>
      </c:catAx>
      <c:valAx>
        <c:axId val="280902880"/>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dirty="0"/>
                  <a:t>SATISFACTION</a:t>
                </a:r>
                <a:r>
                  <a:rPr lang="en-IN" baseline="0" dirty="0"/>
                  <a:t> RATE</a:t>
                </a:r>
                <a:endParaRPr lang="en-IN" dirty="0"/>
              </a:p>
            </c:rich>
          </c:tx>
          <c:layout>
            <c:manualLayout>
              <c:xMode val="edge"/>
              <c:yMode val="edge"/>
              <c:x val="2.6123831663788344E-2"/>
              <c:y val="0.2091414936769267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0.00" sourceLinked="1"/>
        <c:majorTickMark val="none"/>
        <c:minorTickMark val="none"/>
        <c:tickLblPos val="nextTo"/>
        <c:crossAx val="2808798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[Sruthi's IT Tickets Analysis^.xlsx]PivotTables!6</c:name>
    <c:fmtId val="-1"/>
  </c:pivotSource>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US" sz="1100"/>
              <a:t>TICKETS BY SEVERITY RATE </a:t>
            </a: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PivotTables!$T$64</c:f>
              <c:strCache>
                <c:ptCount val="1"/>
                <c:pt idx="0">
                  <c:v>Total</c:v>
                </c:pt>
              </c:strCache>
            </c:strRef>
          </c:tx>
          <c:spPr>
            <a:solidFill>
              <a:schemeClr val="accent1"/>
            </a:solidFill>
            <a:ln>
              <a:noFill/>
            </a:ln>
            <a:effectLst/>
            <a:sp3d/>
          </c:spPr>
          <c:invertIfNegative val="0"/>
          <c:dLbls>
            <c:dLbl>
              <c:idx val="0"/>
              <c:layout>
                <c:manualLayout>
                  <c:x val="9.2764378478663988E-3"/>
                  <c:y val="-2.08464877771736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336-4895-9199-34C870DE0BDE}"/>
                </c:ext>
              </c:extLst>
            </c:dLbl>
            <c:dLbl>
              <c:idx val="1"/>
              <c:layout>
                <c:manualLayout>
                  <c:x val="1.1595547309833023E-2"/>
                  <c:y val="-1.3897658518115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336-4895-9199-34C870DE0BDE}"/>
                </c:ext>
              </c:extLst>
            </c:dLbl>
            <c:dLbl>
              <c:idx val="2"/>
              <c:layout>
                <c:manualLayout>
                  <c:x val="2.3191094619666049E-3"/>
                  <c:y val="-2.43209024067023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336-4895-9199-34C870DE0BDE}"/>
                </c:ext>
              </c:extLst>
            </c:dLbl>
            <c:dLbl>
              <c:idx val="3"/>
              <c:layout>
                <c:manualLayout>
                  <c:x val="4.6382189239332098E-3"/>
                  <c:y val="-1.38976585181156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336-4895-9199-34C870DE0BDE}"/>
                </c:ext>
              </c:extLst>
            </c:dLbl>
            <c:dLbl>
              <c:idx val="4"/>
              <c:layout>
                <c:manualLayout>
                  <c:x val="6.9573283858998143E-3"/>
                  <c:y val="-1.73720731476445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336-4895-9199-34C870DE0BD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PivotTables!$S$65:$S$70</c:f>
              <c:strCache>
                <c:ptCount val="5"/>
                <c:pt idx="0">
                  <c:v>0 - Unclasified</c:v>
                </c:pt>
                <c:pt idx="1">
                  <c:v>1 - Minor</c:v>
                </c:pt>
                <c:pt idx="2">
                  <c:v>2 - Normal</c:v>
                </c:pt>
                <c:pt idx="3">
                  <c:v>3 - Mayor</c:v>
                </c:pt>
                <c:pt idx="4">
                  <c:v>4 - Urgent</c:v>
                </c:pt>
              </c:strCache>
            </c:strRef>
          </c:cat>
          <c:val>
            <c:numRef>
              <c:f>PivotTables!$T$65:$T$70</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7336-4895-9199-34C870DE0BDE}"/>
            </c:ext>
          </c:extLst>
        </c:ser>
        <c:dLbls>
          <c:showLegendKey val="0"/>
          <c:showVal val="0"/>
          <c:showCatName val="0"/>
          <c:showSerName val="0"/>
          <c:showPercent val="0"/>
          <c:showBubbleSize val="0"/>
        </c:dLbls>
        <c:gapWidth val="150"/>
        <c:shape val="box"/>
        <c:axId val="586260112"/>
        <c:axId val="586257712"/>
        <c:axId val="0"/>
      </c:bar3DChart>
      <c:catAx>
        <c:axId val="58626011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SEVERITY RATE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257712"/>
        <c:crosses val="autoZero"/>
        <c:auto val="1"/>
        <c:lblAlgn val="ctr"/>
        <c:lblOffset val="100"/>
        <c:noMultiLvlLbl val="0"/>
      </c:catAx>
      <c:valAx>
        <c:axId val="586257712"/>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 OF TICKET ID</a:t>
                </a:r>
              </a:p>
            </c:rich>
          </c:tx>
          <c:layout>
            <c:manualLayout>
              <c:xMode val="edge"/>
              <c:yMode val="edge"/>
              <c:x val="4.7532495909611519E-2"/>
              <c:y val="0.15088725878844841"/>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5862601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[Sruthi's IT Tickets Analysis^.xlsx]PivotTables!7</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schemeClr val="tx1">
                    <a:lumMod val="95000"/>
                    <a:lumOff val="5000"/>
                  </a:schemeClr>
                </a:solidFill>
              </a:rPr>
              <a:t>DISTRIBUTION OF TICKTES BASED ON SATISFACTION RATE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PivotTables!$N$75</c:f>
              <c:strCache>
                <c:ptCount val="1"/>
                <c:pt idx="0">
                  <c:v>Total</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PivotTables!$M$76:$M$81</c:f>
              <c:strCache>
                <c:ptCount val="5"/>
                <c:pt idx="0">
                  <c:v>1</c:v>
                </c:pt>
                <c:pt idx="1">
                  <c:v>2</c:v>
                </c:pt>
                <c:pt idx="2">
                  <c:v>3</c:v>
                </c:pt>
                <c:pt idx="3">
                  <c:v>4</c:v>
                </c:pt>
                <c:pt idx="4">
                  <c:v>5</c:v>
                </c:pt>
              </c:strCache>
            </c:strRef>
          </c:cat>
          <c:val>
            <c:numRef>
              <c:f>PivotTables!$N$76:$N$81</c:f>
              <c:numCache>
                <c:formatCode>General</c:formatCode>
                <c:ptCount val="5"/>
                <c:pt idx="0">
                  <c:v>9907</c:v>
                </c:pt>
                <c:pt idx="1">
                  <c:v>1977</c:v>
                </c:pt>
                <c:pt idx="2">
                  <c:v>7282</c:v>
                </c:pt>
                <c:pt idx="3">
                  <c:v>27562</c:v>
                </c:pt>
                <c:pt idx="4">
                  <c:v>50770</c:v>
                </c:pt>
              </c:numCache>
            </c:numRef>
          </c:val>
          <c:smooth val="0"/>
          <c:extLst>
            <c:ext xmlns:c16="http://schemas.microsoft.com/office/drawing/2014/chart" uri="{C3380CC4-5D6E-409C-BE32-E72D297353CC}">
              <c16:uniqueId val="{00000000-F26C-4892-AB1A-8FEF39081583}"/>
            </c:ext>
          </c:extLst>
        </c:ser>
        <c:dLbls>
          <c:showLegendKey val="0"/>
          <c:showVal val="0"/>
          <c:showCatName val="0"/>
          <c:showSerName val="0"/>
          <c:showPercent val="0"/>
          <c:showBubbleSize val="0"/>
        </c:dLbls>
        <c:smooth val="0"/>
        <c:axId val="586462672"/>
        <c:axId val="586463632"/>
      </c:lineChart>
      <c:catAx>
        <c:axId val="58646267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AVERAGE SATISFACTION</a:t>
                </a:r>
                <a:r>
                  <a:rPr lang="en-IN" baseline="0"/>
                  <a:t> RATE </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86463632"/>
        <c:crosses val="autoZero"/>
        <c:auto val="1"/>
        <c:lblAlgn val="ctr"/>
        <c:lblOffset val="100"/>
        <c:noMultiLvlLbl val="0"/>
      </c:catAx>
      <c:valAx>
        <c:axId val="586463632"/>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COUNT</a:t>
                </a:r>
                <a:r>
                  <a:rPr lang="en-IN" baseline="0"/>
                  <a:t> OF TICKET ID</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5864626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[Sruthi's IT Tickets Analysis^.xlsx]PivotTables!4</c:name>
    <c:fmtId val="-1"/>
  </c:pivotSource>
  <c:chart>
    <c:title>
      <c:tx>
        <c:rich>
          <a:bodyPr rot="0" spcFirstLastPara="1" vertOverflow="ellipsis" vert="horz" wrap="square" anchor="ctr" anchorCtr="1"/>
          <a:lstStyle/>
          <a:p>
            <a:pPr>
              <a:defRPr sz="1080" b="0" i="0" u="none" strike="noStrike" kern="1200" spc="0" baseline="0">
                <a:solidFill>
                  <a:schemeClr val="tx1">
                    <a:lumMod val="95000"/>
                    <a:lumOff val="5000"/>
                  </a:schemeClr>
                </a:solidFill>
                <a:latin typeface="+mn-lt"/>
                <a:ea typeface="+mn-ea"/>
                <a:cs typeface="+mn-cs"/>
              </a:defRPr>
            </a:pPr>
            <a:r>
              <a:rPr lang="en-US">
                <a:solidFill>
                  <a:schemeClr val="tx1">
                    <a:lumMod val="95000"/>
                    <a:lumOff val="5000"/>
                  </a:schemeClr>
                </a:solidFill>
              </a:rPr>
              <a:t>AVERAGE RESOLUTION TIME BY REQUEST CATEGORY</a:t>
            </a:r>
          </a:p>
        </c:rich>
      </c:tx>
      <c:layout>
        <c:manualLayout>
          <c:xMode val="edge"/>
          <c:yMode val="edge"/>
          <c:x val="0.18037680837715125"/>
          <c:y val="5.6258808237200808E-2"/>
        </c:manualLayout>
      </c:layout>
      <c:overlay val="0"/>
      <c:spPr>
        <a:noFill/>
        <a:ln>
          <a:noFill/>
        </a:ln>
        <a:effectLst/>
      </c:spPr>
      <c:txPr>
        <a:bodyPr rot="0" spcFirstLastPara="1" vertOverflow="ellipsis" vert="horz" wrap="square" anchor="ctr" anchorCtr="1"/>
        <a:lstStyle/>
        <a:p>
          <a:pPr>
            <a:defRPr sz="1080" b="0" i="0" u="none" strike="noStrike" kern="1200" spc="0" baseline="0">
              <a:solidFill>
                <a:schemeClr val="tx1">
                  <a:lumMod val="95000"/>
                  <a:lumOff val="5000"/>
                </a:schemeClr>
              </a:solidFill>
              <a:latin typeface="+mn-lt"/>
              <a:ea typeface="+mn-ea"/>
              <a:cs typeface="+mn-cs"/>
            </a:defRPr>
          </a:pPr>
          <a:endParaRPr lang="en-US"/>
        </a:p>
      </c:txPr>
    </c:title>
    <c:autoTitleDeleted val="0"/>
    <c:pivotFmts>
      <c:pivotFmt>
        <c:idx val="0"/>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5"/>
          </a:solidFill>
          <a:ln w="19050">
            <a:solidFill>
              <a:schemeClr val="lt1"/>
            </a:solidFill>
          </a:ln>
          <a:effectLst/>
        </c:spPr>
      </c:pivotFmt>
      <c:pivotFmt>
        <c:idx val="3"/>
        <c:spPr>
          <a:solidFill>
            <a:schemeClr val="accent5"/>
          </a:solidFill>
          <a:ln w="19050">
            <a:solidFill>
              <a:schemeClr val="lt1"/>
            </a:solidFill>
          </a:ln>
          <a:effectLst/>
        </c:spPr>
      </c:pivotFmt>
      <c:pivotFmt>
        <c:idx val="4"/>
        <c:spPr>
          <a:solidFill>
            <a:schemeClr val="accent5"/>
          </a:solidFill>
          <a:ln w="19050">
            <a:solidFill>
              <a:schemeClr val="lt1"/>
            </a:solidFill>
          </a:ln>
          <a:effectLst/>
        </c:spPr>
      </c:pivotFmt>
      <c:pivotFmt>
        <c:idx val="5"/>
        <c:spPr>
          <a:solidFill>
            <a:schemeClr val="accent5"/>
          </a:solidFill>
          <a:ln w="19050">
            <a:solidFill>
              <a:schemeClr val="lt1"/>
            </a:solidFill>
          </a:ln>
          <a:effectLst/>
        </c:spPr>
      </c:pivotFmt>
      <c:pivotFmt>
        <c:idx val="6"/>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5">
              <a:shade val="58000"/>
            </a:schemeClr>
          </a:solidFill>
          <a:ln w="19050">
            <a:solidFill>
              <a:schemeClr val="lt1"/>
            </a:solidFill>
          </a:ln>
          <a:effectLst/>
        </c:spPr>
      </c:pivotFmt>
      <c:pivotFmt>
        <c:idx val="8"/>
        <c:spPr>
          <a:solidFill>
            <a:schemeClr val="accent5">
              <a:shade val="86000"/>
            </a:schemeClr>
          </a:solidFill>
          <a:ln w="19050">
            <a:solidFill>
              <a:schemeClr val="lt1"/>
            </a:solidFill>
          </a:ln>
          <a:effectLst/>
        </c:spPr>
      </c:pivotFmt>
      <c:pivotFmt>
        <c:idx val="9"/>
        <c:spPr>
          <a:solidFill>
            <a:schemeClr val="accent5">
              <a:tint val="86000"/>
            </a:schemeClr>
          </a:solidFill>
          <a:ln w="19050">
            <a:solidFill>
              <a:schemeClr val="lt1"/>
            </a:solidFill>
          </a:ln>
          <a:effectLst/>
        </c:spPr>
      </c:pivotFmt>
      <c:pivotFmt>
        <c:idx val="10"/>
        <c:spPr>
          <a:solidFill>
            <a:schemeClr val="accent5">
              <a:tint val="58000"/>
            </a:schemeClr>
          </a:solidFill>
          <a:ln w="19050">
            <a:solidFill>
              <a:schemeClr val="lt1"/>
            </a:solidFill>
          </a:ln>
          <a:effectLst/>
        </c:spPr>
      </c:pivotFmt>
      <c:pivotFmt>
        <c:idx val="11"/>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5">
              <a:shade val="58000"/>
            </a:schemeClr>
          </a:solidFill>
          <a:ln w="19050">
            <a:solidFill>
              <a:schemeClr val="lt1"/>
            </a:solidFill>
          </a:ln>
          <a:effectLst/>
        </c:spPr>
      </c:pivotFmt>
      <c:pivotFmt>
        <c:idx val="13"/>
        <c:spPr>
          <a:solidFill>
            <a:schemeClr val="accent5">
              <a:shade val="86000"/>
            </a:schemeClr>
          </a:solidFill>
          <a:ln w="19050">
            <a:solidFill>
              <a:schemeClr val="lt1"/>
            </a:solidFill>
          </a:ln>
          <a:effectLst/>
        </c:spPr>
      </c:pivotFmt>
      <c:pivotFmt>
        <c:idx val="14"/>
        <c:spPr>
          <a:solidFill>
            <a:schemeClr val="accent5">
              <a:tint val="86000"/>
            </a:schemeClr>
          </a:solidFill>
          <a:ln w="19050">
            <a:solidFill>
              <a:schemeClr val="lt1"/>
            </a:solidFill>
          </a:ln>
          <a:effectLst/>
        </c:spPr>
      </c:pivotFmt>
      <c:pivotFmt>
        <c:idx val="15"/>
        <c:spPr>
          <a:solidFill>
            <a:schemeClr val="accent5">
              <a:tint val="58000"/>
            </a:schemeClr>
          </a:solidFill>
          <a:ln w="19050">
            <a:solidFill>
              <a:schemeClr val="lt1"/>
            </a:solidFill>
          </a:ln>
          <a:effectLst/>
        </c:spPr>
      </c:pivotFmt>
      <c:pivotFmt>
        <c:idx val="16"/>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5">
              <a:shade val="58000"/>
            </a:schemeClr>
          </a:solidFill>
          <a:ln w="19050">
            <a:solidFill>
              <a:schemeClr val="lt1"/>
            </a:solidFill>
          </a:ln>
          <a:effectLst/>
        </c:spPr>
      </c:pivotFmt>
      <c:pivotFmt>
        <c:idx val="18"/>
        <c:spPr>
          <a:solidFill>
            <a:schemeClr val="accent5">
              <a:shade val="86000"/>
            </a:schemeClr>
          </a:solidFill>
          <a:ln w="19050">
            <a:solidFill>
              <a:schemeClr val="lt1"/>
            </a:solidFill>
          </a:ln>
          <a:effectLst/>
        </c:spPr>
      </c:pivotFmt>
      <c:pivotFmt>
        <c:idx val="19"/>
        <c:spPr>
          <a:solidFill>
            <a:schemeClr val="accent5">
              <a:tint val="86000"/>
            </a:schemeClr>
          </a:solidFill>
          <a:ln w="19050">
            <a:solidFill>
              <a:schemeClr val="lt1"/>
            </a:solidFill>
          </a:ln>
          <a:effectLst/>
        </c:spPr>
      </c:pivotFmt>
      <c:pivotFmt>
        <c:idx val="20"/>
        <c:spPr>
          <a:solidFill>
            <a:schemeClr val="accent5">
              <a:tint val="58000"/>
            </a:schemeClr>
          </a:solidFill>
          <a:ln w="19050">
            <a:solidFill>
              <a:schemeClr val="lt1"/>
            </a:solidFill>
          </a:ln>
          <a:effectLst/>
        </c:spPr>
      </c:pivotFmt>
    </c:pivotFmts>
    <c:plotArea>
      <c:layout/>
      <c:pieChart>
        <c:varyColors val="1"/>
        <c:ser>
          <c:idx val="0"/>
          <c:order val="0"/>
          <c:tx>
            <c:strRef>
              <c:f>PivotTables!$K$75</c:f>
              <c:strCache>
                <c:ptCount val="1"/>
                <c:pt idx="0">
                  <c:v>Total</c:v>
                </c:pt>
              </c:strCache>
            </c:strRef>
          </c:tx>
          <c:dPt>
            <c:idx val="0"/>
            <c:bubble3D val="0"/>
            <c:spPr>
              <a:solidFill>
                <a:schemeClr val="accent5">
                  <a:shade val="58000"/>
                </a:schemeClr>
              </a:solidFill>
              <a:ln w="19050">
                <a:solidFill>
                  <a:schemeClr val="lt1"/>
                </a:solidFill>
              </a:ln>
              <a:effectLst/>
            </c:spPr>
            <c:extLst>
              <c:ext xmlns:c16="http://schemas.microsoft.com/office/drawing/2014/chart" uri="{C3380CC4-5D6E-409C-BE32-E72D297353CC}">
                <c16:uniqueId val="{00000001-524E-4F4C-9488-CDC78FA636BD}"/>
              </c:ext>
            </c:extLst>
          </c:dPt>
          <c:dPt>
            <c:idx val="1"/>
            <c:bubble3D val="0"/>
            <c:spPr>
              <a:solidFill>
                <a:schemeClr val="accent5">
                  <a:shade val="86000"/>
                </a:schemeClr>
              </a:solidFill>
              <a:ln w="19050">
                <a:solidFill>
                  <a:schemeClr val="lt1"/>
                </a:solidFill>
              </a:ln>
              <a:effectLst/>
            </c:spPr>
            <c:extLst>
              <c:ext xmlns:c16="http://schemas.microsoft.com/office/drawing/2014/chart" uri="{C3380CC4-5D6E-409C-BE32-E72D297353CC}">
                <c16:uniqueId val="{00000003-524E-4F4C-9488-CDC78FA636BD}"/>
              </c:ext>
            </c:extLst>
          </c:dPt>
          <c:dPt>
            <c:idx val="2"/>
            <c:bubble3D val="0"/>
            <c:spPr>
              <a:solidFill>
                <a:schemeClr val="accent5">
                  <a:tint val="86000"/>
                </a:schemeClr>
              </a:solidFill>
              <a:ln w="19050">
                <a:solidFill>
                  <a:schemeClr val="lt1"/>
                </a:solidFill>
              </a:ln>
              <a:effectLst/>
            </c:spPr>
            <c:extLst>
              <c:ext xmlns:c16="http://schemas.microsoft.com/office/drawing/2014/chart" uri="{C3380CC4-5D6E-409C-BE32-E72D297353CC}">
                <c16:uniqueId val="{00000005-524E-4F4C-9488-CDC78FA636BD}"/>
              </c:ext>
            </c:extLst>
          </c:dPt>
          <c:dPt>
            <c:idx val="3"/>
            <c:bubble3D val="0"/>
            <c:spPr>
              <a:solidFill>
                <a:schemeClr val="accent5">
                  <a:tint val="58000"/>
                </a:schemeClr>
              </a:solidFill>
              <a:ln w="19050">
                <a:solidFill>
                  <a:schemeClr val="lt1"/>
                </a:solidFill>
              </a:ln>
              <a:effectLst/>
            </c:spPr>
            <c:extLst>
              <c:ext xmlns:c16="http://schemas.microsoft.com/office/drawing/2014/chart" uri="{C3380CC4-5D6E-409C-BE32-E72D297353CC}">
                <c16:uniqueId val="{00000007-524E-4F4C-9488-CDC78FA636BD}"/>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PivotTables!$J$76:$J$80</c:f>
              <c:strCache>
                <c:ptCount val="4"/>
                <c:pt idx="0">
                  <c:v>Hardware</c:v>
                </c:pt>
                <c:pt idx="1">
                  <c:v>Login Access</c:v>
                </c:pt>
                <c:pt idx="2">
                  <c:v>Software</c:v>
                </c:pt>
                <c:pt idx="3">
                  <c:v>System</c:v>
                </c:pt>
              </c:strCache>
            </c:strRef>
          </c:cat>
          <c:val>
            <c:numRef>
              <c:f>PivotTables!$K$76:$K$80</c:f>
              <c:numCache>
                <c:formatCode>0.00</c:formatCode>
                <c:ptCount val="4"/>
                <c:pt idx="0">
                  <c:v>7.6253981300729476</c:v>
                </c:pt>
                <c:pt idx="1">
                  <c:v>0.31380810468262937</c:v>
                </c:pt>
                <c:pt idx="2">
                  <c:v>5.2387327542156363</c:v>
                </c:pt>
                <c:pt idx="3">
                  <c:v>6.6156094559253376</c:v>
                </c:pt>
              </c:numCache>
            </c:numRef>
          </c:val>
          <c:extLst>
            <c:ext xmlns:c16="http://schemas.microsoft.com/office/drawing/2014/chart" uri="{C3380CC4-5D6E-409C-BE32-E72D297353CC}">
              <c16:uniqueId val="{00000008-524E-4F4C-9488-CDC78FA636BD}"/>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6896674771725095"/>
          <c:y val="0.41444971264367814"/>
          <c:w val="0.26991013388988144"/>
          <c:h val="0.4105632183908046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[Sruthi's IT Tickets Analysis^.xlsx]PivotTables!8</c:name>
    <c:fmtId val="-1"/>
  </c:pivotSource>
  <c:chart>
    <c:title>
      <c:tx>
        <c:rich>
          <a:bodyPr rot="0" vert="horz"/>
          <a:lstStyle/>
          <a:p>
            <a:pPr>
              <a:defRPr b="0"/>
            </a:pPr>
            <a:r>
              <a:rPr lang="en-US" b="0"/>
              <a:t>DISTRIBUTION OF TICKETS BASED ON RESOLUTION TIME</a:t>
            </a:r>
          </a:p>
        </c:rich>
      </c:tx>
      <c:overlay val="0"/>
      <c:spPr>
        <a:noFill/>
        <a:ln>
          <a:noFill/>
        </a:ln>
        <a:effectLst/>
      </c:spPr>
    </c:title>
    <c:autoTitleDeleted val="0"/>
    <c:pivotFmts>
      <c:pivotFmt>
        <c:idx val="0"/>
        <c:spPr>
          <a:solidFill>
            <a:schemeClr val="accent1"/>
          </a:solidFill>
          <a:ln>
            <a:noFill/>
          </a:ln>
          <a:effectLst/>
          <a:sp3d/>
        </c:spPr>
        <c:marker>
          <c:symbol val="none"/>
        </c:marker>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
        <c:spPr>
          <a:solidFill>
            <a:schemeClr val="accent1"/>
          </a:solidFill>
          <a:ln>
            <a:noFill/>
          </a:ln>
          <a:effectLst/>
          <a:sp3d/>
        </c:spPr>
        <c:dLbl>
          <c:idx val="0"/>
          <c:layout>
            <c:manualLayout>
              <c:x val="-3.5663071895424836E-2"/>
              <c:y val="-0.1440153256704981"/>
            </c:manualLayout>
          </c:layout>
          <c:spPr>
            <a:noFill/>
            <a:ln>
              <a:noFill/>
            </a:ln>
            <a:effectLst/>
          </c:spPr>
          <c:txPr>
            <a:bodyPr rot="-5400000" vertOverflow="overflow" horzOverflow="overflow" vert="horz" lIns="360000" tIns="0" rIns="0" bIns="36000" anchor="ctr" anchorCtr="1"/>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
        <c:spPr>
          <a:solidFill>
            <a:schemeClr val="accent1"/>
          </a:solidFill>
          <a:ln>
            <a:noFill/>
          </a:ln>
          <a:effectLst/>
          <a:sp3d/>
        </c:spPr>
        <c:dLbl>
          <c:idx val="0"/>
          <c:layout>
            <c:manualLayout>
              <c:x val="2.1194601150983663E-3"/>
              <c:y val="-9.0534983335384886E-2"/>
            </c:manualLayout>
          </c:layout>
          <c:spPr>
            <a:noFill/>
            <a:ln>
              <a:noFill/>
            </a:ln>
            <a:effectLst/>
          </c:spPr>
          <c:txPr>
            <a:bodyPr rot="-5400000" vert="horz" lIns="360000" rIns="0"/>
            <a:lstStyle/>
            <a:p>
              <a:pPr>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5"/>
        <c:spPr>
          <a:solidFill>
            <a:schemeClr val="accent1"/>
          </a:solidFill>
          <a:ln>
            <a:noFill/>
          </a:ln>
          <a:effectLst/>
          <a:sp3d/>
        </c:spPr>
        <c:dLbl>
          <c:idx val="0"/>
          <c:layout>
            <c:manualLayout>
              <c:x val="2.1194601150983663E-3"/>
              <c:y val="-6.035665555692332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6"/>
        <c:spPr>
          <a:solidFill>
            <a:schemeClr val="accent1"/>
          </a:solidFill>
          <a:ln>
            <a:noFill/>
          </a:ln>
          <a:effectLst/>
          <a:sp3d/>
        </c:spPr>
        <c:dLbl>
          <c:idx val="0"/>
          <c:layout>
            <c:manualLayout>
              <c:x val="0"/>
              <c:y val="-3.621399333415398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7"/>
        <c:spPr>
          <a:solidFill>
            <a:schemeClr val="accent1"/>
          </a:solidFill>
          <a:ln>
            <a:noFill/>
          </a:ln>
          <a:effectLst/>
          <a:sp3d/>
        </c:spPr>
        <c:dLbl>
          <c:idx val="0"/>
          <c:layout>
            <c:manualLayout>
              <c:x val="0"/>
              <c:y val="-3.621399333415398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8"/>
        <c:spPr>
          <a:solidFill>
            <a:schemeClr val="accent1"/>
          </a:solidFill>
          <a:ln>
            <a:noFill/>
          </a:ln>
          <a:effectLst/>
          <a:sp3d/>
        </c:spPr>
        <c:dLbl>
          <c:idx val="0"/>
          <c:layout>
            <c:manualLayout>
              <c:x val="-3.8856319905280098E-17"/>
              <c:y val="-7.2427986668307812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9"/>
        <c:spPr>
          <a:solidFill>
            <a:schemeClr val="accent1"/>
          </a:solidFill>
          <a:ln>
            <a:noFill/>
          </a:ln>
          <a:effectLst/>
          <a:sp3d/>
        </c:spPr>
        <c:dLbl>
          <c:idx val="0"/>
          <c:layout>
            <c:manualLayout>
              <c:x val="-7.7712639810560196E-17"/>
              <c:y val="-6.63923211126155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10"/>
        <c:spPr>
          <a:solidFill>
            <a:schemeClr val="accent1"/>
          </a:solidFill>
          <a:ln>
            <a:noFill/>
          </a:ln>
          <a:effectLst/>
          <a:sp3d/>
        </c:spPr>
        <c:dLbl>
          <c:idx val="0"/>
          <c:layout>
            <c:manualLayout>
              <c:x val="0"/>
              <c:y val="-5.4320990001230897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11"/>
        <c:spPr>
          <a:solidFill>
            <a:schemeClr val="accent1"/>
          </a:solidFill>
          <a:ln>
            <a:noFill/>
          </a:ln>
          <a:effectLst/>
          <a:sp3d/>
        </c:spPr>
        <c:dLbl>
          <c:idx val="0"/>
          <c:layout>
            <c:manualLayout>
              <c:x val="-7.7712639810560196E-17"/>
              <c:y val="-4.8285324445538576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12"/>
        <c:spPr>
          <a:solidFill>
            <a:schemeClr val="accent1"/>
          </a:solidFill>
          <a:ln>
            <a:noFill/>
          </a:ln>
          <a:effectLst/>
          <a:sp3d/>
        </c:spPr>
        <c:dLbl>
          <c:idx val="0"/>
          <c:layout>
            <c:manualLayout>
              <c:x val="-7.7712639810560196E-17"/>
              <c:y val="-2.41426622227692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13"/>
        <c:spPr>
          <a:solidFill>
            <a:schemeClr val="accent1"/>
          </a:solidFill>
          <a:ln>
            <a:noFill/>
          </a:ln>
          <a:effectLst/>
          <a:sp3d/>
        </c:spPr>
        <c:dLbl>
          <c:idx val="0"/>
          <c:layout>
            <c:manualLayout>
              <c:x val="0"/>
              <c:y val="-2.41426622227692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14"/>
      </c:pivotFmt>
      <c:pivotFmt>
        <c:idx val="15"/>
      </c:pivotFmt>
      <c:pivotFmt>
        <c:idx val="16"/>
      </c:pivotFmt>
      <c:pivotFmt>
        <c:idx val="17"/>
      </c:pivotFmt>
      <c:pivotFmt>
        <c:idx val="18"/>
      </c:pivotFmt>
      <c:pivotFmt>
        <c:idx val="19"/>
      </c:pivotFmt>
      <c:pivotFmt>
        <c:idx val="20"/>
      </c:pivotFmt>
      <c:pivotFmt>
        <c:idx val="21"/>
      </c:pivotFmt>
      <c:pivotFmt>
        <c:idx val="22"/>
      </c:pivotFmt>
      <c:pivotFmt>
        <c:idx val="23"/>
      </c:pivotFmt>
      <c:pivotFmt>
        <c:idx val="24"/>
        <c:dLbl>
          <c:idx val="0"/>
          <c:layout>
            <c:manualLayout>
              <c:x val="8.641503267973704E-3"/>
              <c:y val="-1.1791187739463601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25"/>
        <c:spPr>
          <a:solidFill>
            <a:schemeClr val="accent1"/>
          </a:solidFill>
          <a:ln>
            <a:noFill/>
          </a:ln>
          <a:effectLst/>
          <a:sp3d/>
        </c:spPr>
        <c:marker>
          <c:symbol val="none"/>
        </c:marker>
        <c:dLbl>
          <c:idx val="0"/>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26"/>
        <c:spPr>
          <a:solidFill>
            <a:schemeClr val="accent1"/>
          </a:solidFill>
          <a:ln>
            <a:noFill/>
          </a:ln>
          <a:effectLst/>
          <a:sp3d/>
        </c:spPr>
        <c:dLbl>
          <c:idx val="0"/>
          <c:layout>
            <c:manualLayout>
              <c:x val="-3.5663071895424836E-2"/>
              <c:y val="-0.1440153256704981"/>
            </c:manualLayout>
          </c:layout>
          <c:spPr>
            <a:noFill/>
            <a:ln>
              <a:noFill/>
            </a:ln>
            <a:effectLst/>
          </c:spPr>
          <c:txPr>
            <a:bodyPr rot="-5400000" vertOverflow="overflow" horzOverflow="overflow" vert="horz" lIns="360000" tIns="0" rIns="0" bIns="36000" anchor="ctr" anchorCtr="1"/>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27"/>
        <c:spPr>
          <a:solidFill>
            <a:schemeClr val="accent1"/>
          </a:solidFill>
          <a:ln>
            <a:noFill/>
          </a:ln>
          <a:effectLst/>
          <a:sp3d/>
        </c:spPr>
        <c:dLbl>
          <c:idx val="0"/>
          <c:layout>
            <c:manualLayout>
              <c:x val="2.1194601150983663E-3"/>
              <c:y val="-9.0534983335384886E-2"/>
            </c:manualLayout>
          </c:layout>
          <c:spPr>
            <a:noFill/>
            <a:ln>
              <a:noFill/>
            </a:ln>
            <a:effectLst/>
          </c:spPr>
          <c:txPr>
            <a:bodyPr rot="-5400000" vert="horz" lIns="360000" rIns="0"/>
            <a:lstStyle/>
            <a:p>
              <a:pPr>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28"/>
        <c:spPr>
          <a:solidFill>
            <a:schemeClr val="accent1"/>
          </a:solidFill>
          <a:ln>
            <a:noFill/>
          </a:ln>
          <a:effectLst/>
          <a:sp3d/>
        </c:spPr>
        <c:dLbl>
          <c:idx val="0"/>
          <c:layout>
            <c:manualLayout>
              <c:x val="2.1194601150983663E-3"/>
              <c:y val="-6.035665555692332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29"/>
        <c:spPr>
          <a:solidFill>
            <a:schemeClr val="accent1"/>
          </a:solidFill>
          <a:ln>
            <a:noFill/>
          </a:ln>
          <a:effectLst/>
          <a:sp3d/>
        </c:spPr>
        <c:dLbl>
          <c:idx val="0"/>
          <c:layout>
            <c:manualLayout>
              <c:x val="0"/>
              <c:y val="-3.621399333415398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0"/>
        <c:spPr>
          <a:solidFill>
            <a:schemeClr val="accent1"/>
          </a:solidFill>
          <a:ln>
            <a:noFill/>
          </a:ln>
          <a:effectLst/>
          <a:sp3d/>
        </c:spPr>
        <c:dLbl>
          <c:idx val="0"/>
          <c:layout>
            <c:manualLayout>
              <c:x val="0"/>
              <c:y val="-3.621399333415398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1"/>
        <c:spPr>
          <a:solidFill>
            <a:schemeClr val="accent1"/>
          </a:solidFill>
          <a:ln>
            <a:noFill/>
          </a:ln>
          <a:effectLst/>
          <a:sp3d/>
        </c:spPr>
        <c:dLbl>
          <c:idx val="0"/>
          <c:layout>
            <c:manualLayout>
              <c:x val="-3.8856319905280098E-17"/>
              <c:y val="-7.2427986668307812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2"/>
        <c:spPr>
          <a:solidFill>
            <a:schemeClr val="accent1"/>
          </a:solidFill>
          <a:ln>
            <a:noFill/>
          </a:ln>
          <a:effectLst/>
          <a:sp3d/>
        </c:spPr>
        <c:dLbl>
          <c:idx val="0"/>
          <c:layout>
            <c:manualLayout>
              <c:x val="-7.7712639810560196E-17"/>
              <c:y val="-6.63923211126155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3"/>
        <c:spPr>
          <a:solidFill>
            <a:schemeClr val="accent1"/>
          </a:solidFill>
          <a:ln>
            <a:noFill/>
          </a:ln>
          <a:effectLst/>
          <a:sp3d/>
        </c:spPr>
        <c:dLbl>
          <c:idx val="0"/>
          <c:layout>
            <c:manualLayout>
              <c:x val="0"/>
              <c:y val="-5.4320990001230897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4"/>
        <c:spPr>
          <a:solidFill>
            <a:schemeClr val="accent1"/>
          </a:solidFill>
          <a:ln>
            <a:noFill/>
          </a:ln>
          <a:effectLst/>
          <a:sp3d/>
        </c:spPr>
        <c:dLbl>
          <c:idx val="0"/>
          <c:layout>
            <c:manualLayout>
              <c:x val="-7.7712639810560196E-17"/>
              <c:y val="-4.8285324445538576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5"/>
        <c:spPr>
          <a:solidFill>
            <a:schemeClr val="accent1"/>
          </a:solidFill>
          <a:ln>
            <a:noFill/>
          </a:ln>
          <a:effectLst/>
          <a:sp3d/>
        </c:spPr>
        <c:dLbl>
          <c:idx val="0"/>
          <c:layout>
            <c:manualLayout>
              <c:x val="-7.7712639810560196E-17"/>
              <c:y val="-2.41426622227692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6"/>
        <c:spPr>
          <a:solidFill>
            <a:schemeClr val="accent1"/>
          </a:solidFill>
          <a:ln>
            <a:noFill/>
          </a:ln>
          <a:effectLst/>
          <a:sp3d/>
        </c:spPr>
        <c:dLbl>
          <c:idx val="0"/>
          <c:layout>
            <c:manualLayout>
              <c:x val="0"/>
              <c:y val="-2.41426622227692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7"/>
        <c:dLbl>
          <c:idx val="0"/>
          <c:layout>
            <c:manualLayout>
              <c:x val="8.641503267973704E-3"/>
              <c:y val="-1.1791187739463601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8"/>
        <c:spPr>
          <a:solidFill>
            <a:schemeClr val="accent1"/>
          </a:solidFill>
          <a:ln>
            <a:noFill/>
          </a:ln>
          <a:effectLst/>
          <a:sp3d/>
        </c:spPr>
        <c:marker>
          <c:symbol val="none"/>
        </c:marker>
        <c:dLbl>
          <c:idx val="0"/>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39"/>
        <c:dLbl>
          <c:idx val="0"/>
          <c:layout>
            <c:manualLayout>
              <c:x val="-3.5663071895424836E-2"/>
              <c:y val="-0.1440153256704981"/>
            </c:manualLayout>
          </c:layout>
          <c:spPr>
            <a:noFill/>
            <a:ln>
              <a:noFill/>
            </a:ln>
            <a:effectLst/>
          </c:spPr>
          <c:txPr>
            <a:bodyPr rot="-5400000" vertOverflow="overflow" horzOverflow="overflow" vert="horz" lIns="360000" tIns="0" rIns="0" bIns="36000" anchor="ctr" anchorCtr="1"/>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0"/>
        <c:dLbl>
          <c:idx val="0"/>
          <c:layout>
            <c:manualLayout>
              <c:x val="2.1194601150983663E-3"/>
              <c:y val="-9.0534983335384886E-2"/>
            </c:manualLayout>
          </c:layout>
          <c:spPr>
            <a:noFill/>
            <a:ln>
              <a:noFill/>
            </a:ln>
            <a:effectLst/>
          </c:spPr>
          <c:txPr>
            <a:bodyPr rot="-5400000" vert="horz" lIns="360000" rIns="0"/>
            <a:lstStyle/>
            <a:p>
              <a:pPr>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1"/>
        <c:dLbl>
          <c:idx val="0"/>
          <c:layout>
            <c:manualLayout>
              <c:x val="2.1194601150983663E-3"/>
              <c:y val="-6.035665555692332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2"/>
        <c:dLbl>
          <c:idx val="0"/>
          <c:layout>
            <c:manualLayout>
              <c:x val="0"/>
              <c:y val="-3.621399333415398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3"/>
        <c:dLbl>
          <c:idx val="0"/>
          <c:layout>
            <c:manualLayout>
              <c:x val="0"/>
              <c:y val="-3.6213993334153989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4"/>
        <c:dLbl>
          <c:idx val="0"/>
          <c:layout>
            <c:manualLayout>
              <c:x val="-3.8856319905280098E-17"/>
              <c:y val="-7.2427986668307812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5"/>
        <c:dLbl>
          <c:idx val="0"/>
          <c:layout>
            <c:manualLayout>
              <c:x val="-7.7712639810560196E-17"/>
              <c:y val="-6.63923211126155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6"/>
        <c:dLbl>
          <c:idx val="0"/>
          <c:layout>
            <c:manualLayout>
              <c:x val="0"/>
              <c:y val="-5.4320990001230897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7"/>
        <c:dLbl>
          <c:idx val="0"/>
          <c:layout>
            <c:manualLayout>
              <c:x val="-7.7712639810560196E-17"/>
              <c:y val="-4.8285324445538576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8"/>
        <c:dLbl>
          <c:idx val="0"/>
          <c:layout>
            <c:manualLayout>
              <c:x val="-7.7712639810560196E-17"/>
              <c:y val="-2.41426622227692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49"/>
        <c:dLbl>
          <c:idx val="0"/>
          <c:layout>
            <c:manualLayout>
              <c:x val="0"/>
              <c:y val="-2.4142662222769288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
        <c:idx val="50"/>
        <c:dLbl>
          <c:idx val="0"/>
          <c:layout>
            <c:manualLayout>
              <c:x val="8.641503267973704E-3"/>
              <c:y val="-1.1791187739463601E-2"/>
            </c:manualLayout>
          </c:layout>
          <c:spPr>
            <a:noFill/>
            <a:ln>
              <a:noFill/>
            </a:ln>
            <a:effectLst/>
          </c:spPr>
          <c:txPr>
            <a:bodyPr rot="-5400000" vert="horz" lIns="360000" rIns="0"/>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PivotTables!$G$63</c:f>
              <c:strCache>
                <c:ptCount val="1"/>
                <c:pt idx="0">
                  <c:v>Total</c:v>
                </c:pt>
              </c:strCache>
            </c:strRef>
          </c:tx>
          <c:spPr>
            <a:solidFill>
              <a:schemeClr val="accent1"/>
            </a:solidFill>
            <a:ln>
              <a:noFill/>
            </a:ln>
            <a:effectLst/>
            <a:sp3d/>
          </c:spPr>
          <c:invertIfNegative val="0"/>
          <c:dPt>
            <c:idx val="0"/>
            <c:invertIfNegative val="0"/>
            <c:bubble3D val="0"/>
            <c:extLst>
              <c:ext xmlns:c16="http://schemas.microsoft.com/office/drawing/2014/chart" uri="{C3380CC4-5D6E-409C-BE32-E72D297353CC}">
                <c16:uniqueId val="{00000000-444A-425B-8793-C10637231865}"/>
              </c:ext>
            </c:extLst>
          </c:dPt>
          <c:dPt>
            <c:idx val="1"/>
            <c:invertIfNegative val="0"/>
            <c:bubble3D val="0"/>
            <c:extLst>
              <c:ext xmlns:c16="http://schemas.microsoft.com/office/drawing/2014/chart" uri="{C3380CC4-5D6E-409C-BE32-E72D297353CC}">
                <c16:uniqueId val="{00000001-444A-425B-8793-C10637231865}"/>
              </c:ext>
            </c:extLst>
          </c:dPt>
          <c:dPt>
            <c:idx val="2"/>
            <c:invertIfNegative val="0"/>
            <c:bubble3D val="0"/>
            <c:extLst>
              <c:ext xmlns:c16="http://schemas.microsoft.com/office/drawing/2014/chart" uri="{C3380CC4-5D6E-409C-BE32-E72D297353CC}">
                <c16:uniqueId val="{00000002-444A-425B-8793-C10637231865}"/>
              </c:ext>
            </c:extLst>
          </c:dPt>
          <c:dPt>
            <c:idx val="3"/>
            <c:invertIfNegative val="0"/>
            <c:bubble3D val="0"/>
            <c:extLst>
              <c:ext xmlns:c16="http://schemas.microsoft.com/office/drawing/2014/chart" uri="{C3380CC4-5D6E-409C-BE32-E72D297353CC}">
                <c16:uniqueId val="{00000003-444A-425B-8793-C10637231865}"/>
              </c:ext>
            </c:extLst>
          </c:dPt>
          <c:dPt>
            <c:idx val="4"/>
            <c:invertIfNegative val="0"/>
            <c:bubble3D val="0"/>
            <c:extLst>
              <c:ext xmlns:c16="http://schemas.microsoft.com/office/drawing/2014/chart" uri="{C3380CC4-5D6E-409C-BE32-E72D297353CC}">
                <c16:uniqueId val="{00000004-444A-425B-8793-C10637231865}"/>
              </c:ext>
            </c:extLst>
          </c:dPt>
          <c:dPt>
            <c:idx val="5"/>
            <c:invertIfNegative val="0"/>
            <c:bubble3D val="0"/>
            <c:extLst>
              <c:ext xmlns:c16="http://schemas.microsoft.com/office/drawing/2014/chart" uri="{C3380CC4-5D6E-409C-BE32-E72D297353CC}">
                <c16:uniqueId val="{00000005-444A-425B-8793-C10637231865}"/>
              </c:ext>
            </c:extLst>
          </c:dPt>
          <c:dPt>
            <c:idx val="6"/>
            <c:invertIfNegative val="0"/>
            <c:bubble3D val="0"/>
            <c:extLst>
              <c:ext xmlns:c16="http://schemas.microsoft.com/office/drawing/2014/chart" uri="{C3380CC4-5D6E-409C-BE32-E72D297353CC}">
                <c16:uniqueId val="{00000006-444A-425B-8793-C10637231865}"/>
              </c:ext>
            </c:extLst>
          </c:dPt>
          <c:dPt>
            <c:idx val="7"/>
            <c:invertIfNegative val="0"/>
            <c:bubble3D val="0"/>
            <c:extLst>
              <c:ext xmlns:c16="http://schemas.microsoft.com/office/drawing/2014/chart" uri="{C3380CC4-5D6E-409C-BE32-E72D297353CC}">
                <c16:uniqueId val="{00000007-444A-425B-8793-C10637231865}"/>
              </c:ext>
            </c:extLst>
          </c:dPt>
          <c:dPt>
            <c:idx val="8"/>
            <c:invertIfNegative val="0"/>
            <c:bubble3D val="0"/>
            <c:extLst>
              <c:ext xmlns:c16="http://schemas.microsoft.com/office/drawing/2014/chart" uri="{C3380CC4-5D6E-409C-BE32-E72D297353CC}">
                <c16:uniqueId val="{00000008-444A-425B-8793-C10637231865}"/>
              </c:ext>
            </c:extLst>
          </c:dPt>
          <c:dPt>
            <c:idx val="9"/>
            <c:invertIfNegative val="0"/>
            <c:bubble3D val="0"/>
            <c:extLst>
              <c:ext xmlns:c16="http://schemas.microsoft.com/office/drawing/2014/chart" uri="{C3380CC4-5D6E-409C-BE32-E72D297353CC}">
                <c16:uniqueId val="{00000009-444A-425B-8793-C10637231865}"/>
              </c:ext>
            </c:extLst>
          </c:dPt>
          <c:dPt>
            <c:idx val="10"/>
            <c:invertIfNegative val="0"/>
            <c:bubble3D val="0"/>
            <c:extLst>
              <c:ext xmlns:c16="http://schemas.microsoft.com/office/drawing/2014/chart" uri="{C3380CC4-5D6E-409C-BE32-E72D297353CC}">
                <c16:uniqueId val="{0000000A-444A-425B-8793-C10637231865}"/>
              </c:ext>
            </c:extLst>
          </c:dPt>
          <c:dLbls>
            <c:dLbl>
              <c:idx val="0"/>
              <c:layout>
                <c:manualLayout>
                  <c:x val="-3.5663071895424836E-2"/>
                  <c:y val="-0.1440153256704981"/>
                </c:manualLayout>
              </c:layout>
              <c:spPr>
                <a:noFill/>
                <a:ln>
                  <a:noFill/>
                </a:ln>
                <a:effectLst/>
              </c:spPr>
              <c:txPr>
                <a:bodyPr rot="-5400000" vertOverflow="overflow" horzOverflow="overflow" vert="horz" lIns="360000" tIns="0" rIns="0" bIns="36000" anchor="ctr" anchorCtr="1"/>
                <a:lstStyle/>
                <a:p>
                  <a:pPr>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44A-425B-8793-C10637231865}"/>
                </c:ext>
              </c:extLst>
            </c:dLbl>
            <c:dLbl>
              <c:idx val="1"/>
              <c:layout>
                <c:manualLayout>
                  <c:x val="2.1194601150983663E-3"/>
                  <c:y val="-9.0534983335384886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44A-425B-8793-C10637231865}"/>
                </c:ext>
              </c:extLst>
            </c:dLbl>
            <c:dLbl>
              <c:idx val="2"/>
              <c:layout>
                <c:manualLayout>
                  <c:x val="2.1194601150983663E-3"/>
                  <c:y val="-6.03566555569233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44A-425B-8793-C10637231865}"/>
                </c:ext>
              </c:extLst>
            </c:dLbl>
            <c:dLbl>
              <c:idx val="3"/>
              <c:layout>
                <c:manualLayout>
                  <c:x val="0"/>
                  <c:y val="-3.62139933341539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44A-425B-8793-C10637231865}"/>
                </c:ext>
              </c:extLst>
            </c:dLbl>
            <c:dLbl>
              <c:idx val="4"/>
              <c:layout>
                <c:manualLayout>
                  <c:x val="0"/>
                  <c:y val="-3.62139933341539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44A-425B-8793-C10637231865}"/>
                </c:ext>
              </c:extLst>
            </c:dLbl>
            <c:dLbl>
              <c:idx val="5"/>
              <c:layout>
                <c:manualLayout>
                  <c:x val="-3.8856319905280098E-17"/>
                  <c:y val="-7.24279866683078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44A-425B-8793-C10637231865}"/>
                </c:ext>
              </c:extLst>
            </c:dLbl>
            <c:dLbl>
              <c:idx val="6"/>
              <c:layout>
                <c:manualLayout>
                  <c:x val="-7.7712639810560196E-17"/>
                  <c:y val="-6.63923211126155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44A-425B-8793-C10637231865}"/>
                </c:ext>
              </c:extLst>
            </c:dLbl>
            <c:dLbl>
              <c:idx val="7"/>
              <c:layout>
                <c:manualLayout>
                  <c:x val="0"/>
                  <c:y val="-5.43209900012308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44A-425B-8793-C10637231865}"/>
                </c:ext>
              </c:extLst>
            </c:dLbl>
            <c:dLbl>
              <c:idx val="8"/>
              <c:layout>
                <c:manualLayout>
                  <c:x val="-7.7712639810560196E-17"/>
                  <c:y val="-4.82853244455385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44A-425B-8793-C10637231865}"/>
                </c:ext>
              </c:extLst>
            </c:dLbl>
            <c:dLbl>
              <c:idx val="9"/>
              <c:layout>
                <c:manualLayout>
                  <c:x val="-7.7712639810560196E-17"/>
                  <c:y val="-2.41426622227692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44A-425B-8793-C10637231865}"/>
                </c:ext>
              </c:extLst>
            </c:dLbl>
            <c:dLbl>
              <c:idx val="10"/>
              <c:layout>
                <c:manualLayout>
                  <c:x val="0"/>
                  <c:y val="-2.41426622227692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44A-425B-8793-C10637231865}"/>
                </c:ext>
              </c:extLst>
            </c:dLbl>
            <c:dLbl>
              <c:idx val="21"/>
              <c:layout>
                <c:manualLayout>
                  <c:x val="8.641503267973704E-3"/>
                  <c:y val="-1.17911877394636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44A-425B-8793-C10637231865}"/>
                </c:ext>
              </c:extLst>
            </c:dLbl>
            <c:spPr>
              <a:noFill/>
              <a:ln>
                <a:noFill/>
              </a:ln>
              <a:effectLst/>
            </c:spPr>
            <c:txPr>
              <a:bodyPr rot="-5400000" vert="horz" lIns="360000" rIns="0"/>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PivotTables!$F$64:$F$86</c:f>
              <c:strCach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strCache>
            </c:strRef>
          </c:cat>
          <c:val>
            <c:numRef>
              <c:f>PivotTables!$G$64:$G$86</c:f>
              <c:numCache>
                <c:formatCode>General</c:formatCode>
                <c:ptCount val="22"/>
                <c:pt idx="0">
                  <c:v>25071</c:v>
                </c:pt>
                <c:pt idx="1">
                  <c:v>9277</c:v>
                </c:pt>
                <c:pt idx="2">
                  <c:v>6466</c:v>
                </c:pt>
                <c:pt idx="3">
                  <c:v>6200</c:v>
                </c:pt>
                <c:pt idx="4">
                  <c:v>4919</c:v>
                </c:pt>
                <c:pt idx="5">
                  <c:v>8789</c:v>
                </c:pt>
                <c:pt idx="6">
                  <c:v>7802</c:v>
                </c:pt>
                <c:pt idx="7">
                  <c:v>6582</c:v>
                </c:pt>
                <c:pt idx="8">
                  <c:v>4850</c:v>
                </c:pt>
                <c:pt idx="9">
                  <c:v>3739</c:v>
                </c:pt>
                <c:pt idx="10">
                  <c:v>3899</c:v>
                </c:pt>
                <c:pt idx="11">
                  <c:v>1732</c:v>
                </c:pt>
                <c:pt idx="12">
                  <c:v>1555</c:v>
                </c:pt>
                <c:pt idx="13">
                  <c:v>1712</c:v>
                </c:pt>
                <c:pt idx="14">
                  <c:v>1566</c:v>
                </c:pt>
                <c:pt idx="15">
                  <c:v>1360</c:v>
                </c:pt>
                <c:pt idx="16">
                  <c:v>1167</c:v>
                </c:pt>
                <c:pt idx="17">
                  <c:v>554</c:v>
                </c:pt>
                <c:pt idx="18">
                  <c:v>124</c:v>
                </c:pt>
                <c:pt idx="19">
                  <c:v>130</c:v>
                </c:pt>
                <c:pt idx="20">
                  <c:v>2</c:v>
                </c:pt>
                <c:pt idx="21">
                  <c:v>2</c:v>
                </c:pt>
              </c:numCache>
            </c:numRef>
          </c:val>
          <c:extLst>
            <c:ext xmlns:c16="http://schemas.microsoft.com/office/drawing/2014/chart" uri="{C3380CC4-5D6E-409C-BE32-E72D297353CC}">
              <c16:uniqueId val="{0000000C-444A-425B-8793-C10637231865}"/>
            </c:ext>
          </c:extLst>
        </c:ser>
        <c:dLbls>
          <c:showLegendKey val="0"/>
          <c:showVal val="1"/>
          <c:showCatName val="0"/>
          <c:showSerName val="0"/>
          <c:showPercent val="0"/>
          <c:showBubbleSize val="0"/>
        </c:dLbls>
        <c:gapWidth val="150"/>
        <c:shape val="box"/>
        <c:axId val="451875936"/>
        <c:axId val="451882656"/>
        <c:axId val="0"/>
      </c:bar3DChart>
      <c:catAx>
        <c:axId val="451875936"/>
        <c:scaling>
          <c:orientation val="minMax"/>
        </c:scaling>
        <c:delete val="0"/>
        <c:axPos val="b"/>
        <c:title>
          <c:tx>
            <c:rich>
              <a:bodyPr rot="0" vert="horz"/>
              <a:lstStyle/>
              <a:p>
                <a:pPr>
                  <a:defRPr b="0"/>
                </a:pPr>
                <a:r>
                  <a:rPr lang="en-IN" b="0"/>
                  <a:t>RESOLUTION TIME</a:t>
                </a:r>
              </a:p>
            </c:rich>
          </c:tx>
          <c:overlay val="0"/>
          <c:spPr>
            <a:noFill/>
            <a:ln>
              <a:noFill/>
            </a:ln>
            <a:effectLst/>
          </c:spPr>
        </c:title>
        <c:numFmt formatCode="General" sourceLinked="1"/>
        <c:majorTickMark val="none"/>
        <c:minorTickMark val="none"/>
        <c:tickLblPos val="nextTo"/>
        <c:spPr>
          <a:noFill/>
          <a:ln>
            <a:noFill/>
          </a:ln>
          <a:effectLst/>
        </c:spPr>
        <c:txPr>
          <a:bodyPr rot="-60000000" vert="horz"/>
          <a:lstStyle/>
          <a:p>
            <a:pPr>
              <a:defRPr/>
            </a:pPr>
            <a:endParaRPr lang="en-US"/>
          </a:p>
        </c:txPr>
        <c:crossAx val="451882656"/>
        <c:crosses val="autoZero"/>
        <c:auto val="1"/>
        <c:lblAlgn val="ctr"/>
        <c:lblOffset val="100"/>
        <c:noMultiLvlLbl val="0"/>
      </c:catAx>
      <c:valAx>
        <c:axId val="451882656"/>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vert="horz"/>
              <a:lstStyle/>
              <a:p>
                <a:pPr>
                  <a:defRPr b="0"/>
                </a:pPr>
                <a:r>
                  <a:rPr lang="en-IN" b="0"/>
                  <a:t> COUNT OF TICKET ID</a:t>
                </a:r>
              </a:p>
            </c:rich>
          </c:tx>
          <c:layout>
            <c:manualLayout>
              <c:xMode val="edge"/>
              <c:yMode val="edge"/>
              <c:x val="1.9303350694098761E-2"/>
              <c:y val="0.21056929384211848"/>
            </c:manualLayout>
          </c:layout>
          <c:overlay val="0"/>
          <c:spPr>
            <a:noFill/>
            <a:ln>
              <a:noFill/>
            </a:ln>
            <a:effectLst/>
          </c:spPr>
        </c:title>
        <c:numFmt formatCode="General" sourceLinked="1"/>
        <c:majorTickMark val="none"/>
        <c:minorTickMark val="none"/>
        <c:tickLblPos val="nextTo"/>
        <c:crossAx val="4518759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c:spPr>
  <c:txPr>
    <a:bodyPr/>
    <a:lstStyle/>
    <a:p>
      <a:pPr>
        <a:defRPr sz="900">
          <a:solidFill>
            <a:schemeClr val="tx1">
              <a:lumMod val="95000"/>
              <a:lumOff val="5000"/>
            </a:schemeClr>
          </a:solidFill>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[Sruthi's IT Tickets Analysis^.xlsx]PivotTables!PivotTable2</c:name>
    <c:fmtId val="-1"/>
  </c:pivotSource>
  <c:chart>
    <c:title>
      <c:tx>
        <c:rich>
          <a:bodyPr rot="0" spcFirstLastPara="1" vertOverflow="ellipsis" vert="horz" wrap="square" anchor="ctr" anchorCtr="1"/>
          <a:lstStyle/>
          <a:p>
            <a:pPr>
              <a:defRPr sz="1080" b="0" i="0" u="none" strike="noStrike" kern="1200" spc="0" baseline="0">
                <a:solidFill>
                  <a:schemeClr val="tx1">
                    <a:lumMod val="95000"/>
                    <a:lumOff val="5000"/>
                  </a:schemeClr>
                </a:solidFill>
                <a:latin typeface="+mn-lt"/>
                <a:ea typeface="+mn-ea"/>
                <a:cs typeface="+mn-cs"/>
              </a:defRPr>
            </a:pPr>
            <a:r>
              <a:rPr lang="en-US" sz="1080"/>
              <a:t>AGE GROUP BY SATISFACTION RATE </a:t>
            </a:r>
          </a:p>
        </c:rich>
      </c:tx>
      <c:overlay val="0"/>
      <c:spPr>
        <a:noFill/>
        <a:ln>
          <a:noFill/>
        </a:ln>
        <a:effectLst/>
      </c:spPr>
      <c:txPr>
        <a:bodyPr rot="0" spcFirstLastPara="1" vertOverflow="ellipsis" vert="horz" wrap="square" anchor="ctr" anchorCtr="1"/>
        <a:lstStyle/>
        <a:p>
          <a:pPr>
            <a:defRPr sz="1080" b="0" i="0" u="none" strike="noStrike" kern="1200" spc="0" baseline="0">
              <a:solidFill>
                <a:schemeClr val="tx1">
                  <a:lumMod val="95000"/>
                  <a:lumOff val="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PivotTables!$G$107</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PivotTables!$F$108:$F$112</c:f>
              <c:strCache>
                <c:ptCount val="4"/>
                <c:pt idx="0">
                  <c:v>20-29</c:v>
                </c:pt>
                <c:pt idx="1">
                  <c:v>30-39</c:v>
                </c:pt>
                <c:pt idx="2">
                  <c:v>40-49</c:v>
                </c:pt>
                <c:pt idx="3">
                  <c:v>50+</c:v>
                </c:pt>
              </c:strCache>
            </c:strRef>
          </c:cat>
          <c:val>
            <c:numRef>
              <c:f>PivotTables!$G$108:$G$112</c:f>
              <c:numCache>
                <c:formatCode>0.00</c:formatCode>
                <c:ptCount val="4"/>
                <c:pt idx="0">
                  <c:v>4.2302580478122032</c:v>
                </c:pt>
                <c:pt idx="1">
                  <c:v>4.0957943129576027</c:v>
                </c:pt>
                <c:pt idx="2">
                  <c:v>4.0505602240896357</c:v>
                </c:pt>
                <c:pt idx="3">
                  <c:v>4.1580329782576975</c:v>
                </c:pt>
              </c:numCache>
            </c:numRef>
          </c:val>
          <c:extLst>
            <c:ext xmlns:c16="http://schemas.microsoft.com/office/drawing/2014/chart" uri="{C3380CC4-5D6E-409C-BE32-E72D297353CC}">
              <c16:uniqueId val="{00000000-D241-496C-B64E-60DFC5973B08}"/>
            </c:ext>
          </c:extLst>
        </c:ser>
        <c:dLbls>
          <c:showLegendKey val="0"/>
          <c:showVal val="0"/>
          <c:showCatName val="0"/>
          <c:showSerName val="0"/>
          <c:showPercent val="0"/>
          <c:showBubbleSize val="0"/>
        </c:dLbls>
        <c:gapWidth val="219"/>
        <c:overlap val="-27"/>
        <c:axId val="974264831"/>
        <c:axId val="974281151"/>
      </c:barChart>
      <c:catAx>
        <c:axId val="974264831"/>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r>
                  <a:rPr lang="en-IN" sz="900"/>
                  <a:t>AGE GROUP</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974281151"/>
        <c:crosses val="autoZero"/>
        <c:auto val="1"/>
        <c:lblAlgn val="ctr"/>
        <c:lblOffset val="100"/>
        <c:noMultiLvlLbl val="0"/>
      </c:catAx>
      <c:valAx>
        <c:axId val="97428115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r>
                  <a:rPr lang="en-IN" sz="900"/>
                  <a:t>SATISFACTION RATE</a:t>
                </a:r>
              </a:p>
            </c:rich>
          </c:tx>
          <c:layout>
            <c:manualLayout>
              <c:xMode val="edge"/>
              <c:yMode val="edge"/>
              <c:x val="2.2222222222222223E-2"/>
              <c:y val="0.27986512102653838"/>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95000"/>
                    <a:lumOff val="5000"/>
                  </a:schemeClr>
                </a:solidFill>
                <a:latin typeface="+mn-lt"/>
                <a:ea typeface="+mn-ea"/>
                <a:cs typeface="+mn-cs"/>
              </a:defRPr>
            </a:pPr>
            <a:endParaRPr lang="en-US"/>
          </a:p>
        </c:txPr>
        <c:crossAx val="9742648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lumMod val="95000"/>
              <a:lumOff val="5000"/>
            </a:schemeClr>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8">
  <a:schemeClr val="accent5"/>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26F14-8D8A-5B10-2AD5-422B82A769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3F7B42-0693-5F42-AB0B-16D0EC8C20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FA459F-57BD-B0BD-788F-2599840BB1FF}"/>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5" name="Footer Placeholder 4">
            <a:extLst>
              <a:ext uri="{FF2B5EF4-FFF2-40B4-BE49-F238E27FC236}">
                <a16:creationId xmlns:a16="http://schemas.microsoft.com/office/drawing/2014/main" id="{7D6F7302-9516-C267-3B8A-5845433D19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766CD2-2437-850B-818A-3DEBA7ACA96E}"/>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39993250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9D9E-48A3-C431-09BB-AF25E6A1CC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40DF47-01EF-A95B-2497-876909F0AD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95CE2E-1A3B-DB1C-9B1F-A1E29B7AB814}"/>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5" name="Footer Placeholder 4">
            <a:extLst>
              <a:ext uri="{FF2B5EF4-FFF2-40B4-BE49-F238E27FC236}">
                <a16:creationId xmlns:a16="http://schemas.microsoft.com/office/drawing/2014/main" id="{AB224A6B-DC81-AE70-2FAC-84ED6E742E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3D22CB-68F4-1BE9-949A-632005C98608}"/>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25135233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A7CE-DA5E-8567-26ED-B77AAB2D4F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0BE23B-0A10-7A94-BE5D-B2FA2560BC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D891E7-B02C-B5BD-8809-1F015F40C59B}"/>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5" name="Footer Placeholder 4">
            <a:extLst>
              <a:ext uri="{FF2B5EF4-FFF2-40B4-BE49-F238E27FC236}">
                <a16:creationId xmlns:a16="http://schemas.microsoft.com/office/drawing/2014/main" id="{80AA6F66-0407-AA37-95F6-28F5BEB2B0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D60437-42E7-00D0-A7F6-E37C8455E8D8}"/>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3580795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24AE5-0AC0-C516-4EBF-22C3DBA24C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576213-7581-2E14-098B-CA9FB8EA70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12A375-BD7A-3113-EEC1-58DAED38D4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09163B-308E-1A1B-49D7-E0225099F88A}"/>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6" name="Footer Placeholder 5">
            <a:extLst>
              <a:ext uri="{FF2B5EF4-FFF2-40B4-BE49-F238E27FC236}">
                <a16:creationId xmlns:a16="http://schemas.microsoft.com/office/drawing/2014/main" id="{03A14D7C-DC70-6806-59A4-611CE39110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F15556-189E-F6CF-0E16-6FD7D29C26F2}"/>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227397084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ADF76-4355-B23A-5C5B-BBA942F826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DFCBAB-37FE-E44D-F824-71ADE9642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6C93FD-4594-A3D9-6185-2D236E29FD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5ED290-8F58-FFD5-2E11-9C32A98D9B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03F40C-B787-050F-B853-E3C4D1FBE1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97E513D-6761-093E-9101-894B165C0212}"/>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8" name="Footer Placeholder 7">
            <a:extLst>
              <a:ext uri="{FF2B5EF4-FFF2-40B4-BE49-F238E27FC236}">
                <a16:creationId xmlns:a16="http://schemas.microsoft.com/office/drawing/2014/main" id="{79E66BF6-4CB2-33ED-6B26-069E90D749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950ECB-F839-7000-9C40-6383DD2D31DA}"/>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414213892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3E7F9-EABB-6865-3C9C-AE4AF9CAFF2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1E2275-C2CC-B8EC-D658-DEB73C50C79C}"/>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4" name="Footer Placeholder 3">
            <a:extLst>
              <a:ext uri="{FF2B5EF4-FFF2-40B4-BE49-F238E27FC236}">
                <a16:creationId xmlns:a16="http://schemas.microsoft.com/office/drawing/2014/main" id="{561018CA-18DD-891E-CFC2-720A2339A2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C32D28-F44A-8999-6AB3-8B063638A8EE}"/>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45908410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8D5563-9034-EAFD-D14E-35F87D186CF3}"/>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3" name="Footer Placeholder 2">
            <a:extLst>
              <a:ext uri="{FF2B5EF4-FFF2-40B4-BE49-F238E27FC236}">
                <a16:creationId xmlns:a16="http://schemas.microsoft.com/office/drawing/2014/main" id="{E8B66DA8-F252-A6D4-391E-32D540E184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05CB78-F830-A2C8-6BCE-782A49810214}"/>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283158388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81A10-83AD-B837-7181-EF804BCA08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C58E15-A636-3374-ED09-1ECE879368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A479F5-DBD7-BACE-064D-D0176C1F7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5993D6-4B6D-F0E4-5996-92152AB23D2F}"/>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6" name="Footer Placeholder 5">
            <a:extLst>
              <a:ext uri="{FF2B5EF4-FFF2-40B4-BE49-F238E27FC236}">
                <a16:creationId xmlns:a16="http://schemas.microsoft.com/office/drawing/2014/main" id="{02441427-B80C-E7A2-9B36-19E809CF90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2DBBE4-37BC-660C-4930-3435270747B0}"/>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204137593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CEED-7799-A432-C1FA-063C530404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82C1D2-4CC3-3387-4745-2B3F793E6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5F5701-DC24-9219-AE79-AABA805752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1E82D-976C-1AD4-5D59-D367C0CF1541}"/>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6" name="Footer Placeholder 5">
            <a:extLst>
              <a:ext uri="{FF2B5EF4-FFF2-40B4-BE49-F238E27FC236}">
                <a16:creationId xmlns:a16="http://schemas.microsoft.com/office/drawing/2014/main" id="{AA93369E-71AD-950D-E54D-758613C069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160034-0EB8-CAF8-2319-2CABF6D63979}"/>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233405390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35A51-8DFB-B191-22EC-7AA3995398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A782EB-D07D-7689-5273-DCC07F28CF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793753-65E5-3C8A-8A18-EE4C42557931}"/>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5" name="Footer Placeholder 4">
            <a:extLst>
              <a:ext uri="{FF2B5EF4-FFF2-40B4-BE49-F238E27FC236}">
                <a16:creationId xmlns:a16="http://schemas.microsoft.com/office/drawing/2014/main" id="{B2179609-1689-1687-8BD8-C6F714D90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EDE62E-7CF6-7962-B230-C605A49A99CC}"/>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410961969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3C8489-BB11-ADFB-6193-D896E6F9F2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61A907-5295-FAA7-F358-70AB8F4920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8DBF58-D5AC-0090-910C-96CFDBDA1B8A}"/>
              </a:ext>
            </a:extLst>
          </p:cNvPr>
          <p:cNvSpPr>
            <a:spLocks noGrp="1"/>
          </p:cNvSpPr>
          <p:nvPr>
            <p:ph type="dt" sz="half" idx="10"/>
          </p:nvPr>
        </p:nvSpPr>
        <p:spPr/>
        <p:txBody>
          <a:bodyPr/>
          <a:lstStyle/>
          <a:p>
            <a:fld id="{E2E85BFC-223D-4634-968F-BB2657BA6855}" type="datetimeFigureOut">
              <a:rPr lang="en-IN" smtClean="0"/>
              <a:t>23-09-2025</a:t>
            </a:fld>
            <a:endParaRPr lang="en-IN"/>
          </a:p>
        </p:txBody>
      </p:sp>
      <p:sp>
        <p:nvSpPr>
          <p:cNvPr id="5" name="Footer Placeholder 4">
            <a:extLst>
              <a:ext uri="{FF2B5EF4-FFF2-40B4-BE49-F238E27FC236}">
                <a16:creationId xmlns:a16="http://schemas.microsoft.com/office/drawing/2014/main" id="{58340CAC-1DA3-B727-9AB4-C9FF470598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423392-D6D5-417E-CB45-59772ADE00B1}"/>
              </a:ext>
            </a:extLst>
          </p:cNvPr>
          <p:cNvSpPr>
            <a:spLocks noGrp="1"/>
          </p:cNvSpPr>
          <p:nvPr>
            <p:ph type="sldNum" sz="quarter" idx="12"/>
          </p:nvPr>
        </p:nvSpPr>
        <p:spPr/>
        <p:txBody>
          <a:bodyPr/>
          <a:lstStyle/>
          <a:p>
            <a:fld id="{F9F11D8E-7DB8-4050-9ED8-E31CE2A079CC}" type="slidenum">
              <a:rPr lang="en-IN" smtClean="0"/>
              <a:t>‹#›</a:t>
            </a:fld>
            <a:endParaRPr lang="en-IN"/>
          </a:p>
        </p:txBody>
      </p:sp>
    </p:spTree>
    <p:extLst>
      <p:ext uri="{BB962C8B-B14F-4D97-AF65-F5344CB8AC3E}">
        <p14:creationId xmlns:p14="http://schemas.microsoft.com/office/powerpoint/2010/main" val="253636421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1383B5-F608-5AAB-E572-FDD6E69137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16971D-5B94-4A3C-0364-3D70636DF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5F99B2-3CEA-0B30-8D07-ACC6F55E56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E85BFC-223D-4634-968F-BB2657BA6855}" type="datetimeFigureOut">
              <a:rPr lang="en-IN" smtClean="0"/>
              <a:t>23-09-2025</a:t>
            </a:fld>
            <a:endParaRPr lang="en-IN"/>
          </a:p>
        </p:txBody>
      </p:sp>
      <p:sp>
        <p:nvSpPr>
          <p:cNvPr id="5" name="Footer Placeholder 4">
            <a:extLst>
              <a:ext uri="{FF2B5EF4-FFF2-40B4-BE49-F238E27FC236}">
                <a16:creationId xmlns:a16="http://schemas.microsoft.com/office/drawing/2014/main" id="{5D308410-572E-9C63-EA34-3CF0D11FFB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37C546B-B901-54A8-74EC-96582F6127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F11D8E-7DB8-4050-9ED8-E31CE2A079CC}" type="slidenum">
              <a:rPr lang="en-IN" smtClean="0"/>
              <a:t>‹#›</a:t>
            </a:fld>
            <a:endParaRPr lang="en-IN"/>
          </a:p>
        </p:txBody>
      </p:sp>
    </p:spTree>
    <p:extLst>
      <p:ext uri="{BB962C8B-B14F-4D97-AF65-F5344CB8AC3E}">
        <p14:creationId xmlns:p14="http://schemas.microsoft.com/office/powerpoint/2010/main" val="1222170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648A0-DD63-1B22-E651-1DA7B1A5DE53}"/>
              </a:ext>
            </a:extLst>
          </p:cNvPr>
          <p:cNvSpPr>
            <a:spLocks noGrp="1"/>
          </p:cNvSpPr>
          <p:nvPr>
            <p:ph type="ctrTitle"/>
          </p:nvPr>
        </p:nvSpPr>
        <p:spPr>
          <a:xfrm>
            <a:off x="3176337" y="2062162"/>
            <a:ext cx="9144000" cy="2387600"/>
          </a:xfrm>
        </p:spPr>
        <p:txBody>
          <a:bodyPr>
            <a:normAutofit/>
          </a:bodyPr>
          <a:lstStyle/>
          <a:p>
            <a:r>
              <a:rPr lang="en-IN" b="1" dirty="0"/>
              <a:t>IT TICKET ANALYSIS</a:t>
            </a:r>
            <a:br>
              <a:rPr lang="en-US" dirty="0"/>
            </a:br>
            <a:endParaRPr lang="en-IN" dirty="0"/>
          </a:p>
        </p:txBody>
      </p:sp>
      <p:sp>
        <p:nvSpPr>
          <p:cNvPr id="3" name="Subtitle 2">
            <a:extLst>
              <a:ext uri="{FF2B5EF4-FFF2-40B4-BE49-F238E27FC236}">
                <a16:creationId xmlns:a16="http://schemas.microsoft.com/office/drawing/2014/main" id="{40E6AB91-865F-967E-CEAD-9CC4D7675CC5}"/>
              </a:ext>
            </a:extLst>
          </p:cNvPr>
          <p:cNvSpPr>
            <a:spLocks noGrp="1"/>
          </p:cNvSpPr>
          <p:nvPr>
            <p:ph type="subTitle" idx="1"/>
          </p:nvPr>
        </p:nvSpPr>
        <p:spPr>
          <a:xfrm>
            <a:off x="3310480" y="3554493"/>
            <a:ext cx="9144000" cy="1655762"/>
          </a:xfrm>
        </p:spPr>
        <p:txBody>
          <a:bodyPr/>
          <a:lstStyle/>
          <a:p>
            <a:r>
              <a:rPr lang="en-US" b="1" dirty="0"/>
              <a:t>A Deep Dive into IT Support Performance</a:t>
            </a:r>
          </a:p>
          <a:p>
            <a:endParaRPr lang="en-US" b="1" dirty="0"/>
          </a:p>
          <a:p>
            <a:r>
              <a:rPr lang="en-US" sz="1800" b="1" dirty="0"/>
              <a:t>		         BY MADDU SRUTHI GEERVANI</a:t>
            </a:r>
            <a:endParaRPr lang="en-IN" sz="1800" dirty="0"/>
          </a:p>
        </p:txBody>
      </p:sp>
      <p:sp>
        <p:nvSpPr>
          <p:cNvPr id="5" name="TextBox 4">
            <a:extLst>
              <a:ext uri="{FF2B5EF4-FFF2-40B4-BE49-F238E27FC236}">
                <a16:creationId xmlns:a16="http://schemas.microsoft.com/office/drawing/2014/main" id="{FA01D286-2F3B-C7EA-E95A-F07923530409}"/>
              </a:ext>
            </a:extLst>
          </p:cNvPr>
          <p:cNvSpPr txBox="1"/>
          <p:nvPr/>
        </p:nvSpPr>
        <p:spPr>
          <a:xfrm>
            <a:off x="609600" y="2062162"/>
            <a:ext cx="6160168" cy="369332"/>
          </a:xfrm>
          <a:prstGeom prst="rect">
            <a:avLst/>
          </a:prstGeom>
          <a:noFill/>
        </p:spPr>
        <p:txBody>
          <a:bodyPr wrap="square">
            <a:spAutoFit/>
          </a:bodyPr>
          <a:lstStyle/>
          <a:p>
            <a:endParaRPr lang="en-IN" dirty="0"/>
          </a:p>
        </p:txBody>
      </p:sp>
      <p:sp>
        <p:nvSpPr>
          <p:cNvPr id="11" name="TextBox 10">
            <a:extLst>
              <a:ext uri="{FF2B5EF4-FFF2-40B4-BE49-F238E27FC236}">
                <a16:creationId xmlns:a16="http://schemas.microsoft.com/office/drawing/2014/main" id="{FCF37474-E80B-B0D4-A42A-FFD3BB3AD3E2}"/>
              </a:ext>
            </a:extLst>
          </p:cNvPr>
          <p:cNvSpPr txBox="1"/>
          <p:nvPr/>
        </p:nvSpPr>
        <p:spPr>
          <a:xfrm>
            <a:off x="3080084" y="3248344"/>
            <a:ext cx="6160168" cy="369332"/>
          </a:xfrm>
          <a:prstGeom prst="rect">
            <a:avLst/>
          </a:prstGeom>
          <a:noFill/>
        </p:spPr>
        <p:txBody>
          <a:bodyPr wrap="square">
            <a:spAutoFit/>
          </a:bodyPr>
          <a:lstStyle/>
          <a:p>
            <a:endParaRPr lang="en-IN" dirty="0"/>
          </a:p>
        </p:txBody>
      </p:sp>
      <p:pic>
        <p:nvPicPr>
          <p:cNvPr id="1026" name="Picture 2" descr="5+ Thousand Call Center Agent Cartoon Royalty-Free Images, Stock Photos &amp;  Pictures | Shutterstock">
            <a:extLst>
              <a:ext uri="{FF2B5EF4-FFF2-40B4-BE49-F238E27FC236}">
                <a16:creationId xmlns:a16="http://schemas.microsoft.com/office/drawing/2014/main" id="{D76EC691-D4A4-4CAA-961C-BB62234EB0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4604"/>
            <a:ext cx="4706143" cy="4706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298282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7951EC-5B62-30D4-72BA-AD9955773296}"/>
              </a:ext>
            </a:extLst>
          </p:cNvPr>
          <p:cNvSpPr txBox="1"/>
          <p:nvPr/>
        </p:nvSpPr>
        <p:spPr>
          <a:xfrm>
            <a:off x="647635" y="536634"/>
            <a:ext cx="10700085" cy="2308324"/>
          </a:xfrm>
          <a:prstGeom prst="rect">
            <a:avLst/>
          </a:prstGeom>
          <a:noFill/>
        </p:spPr>
        <p:txBody>
          <a:bodyPr wrap="square" rtlCol="0">
            <a:spAutoFit/>
          </a:bodyPr>
          <a:lstStyle/>
          <a:p>
            <a:r>
              <a:rPr lang="en-US" b="1" dirty="0"/>
              <a:t>Problem Statement</a:t>
            </a:r>
            <a:endParaRPr lang="en-US" dirty="0"/>
          </a:p>
          <a:p>
            <a:r>
              <a:rPr lang="en-US" dirty="0"/>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p>
          <a:p>
            <a:br>
              <a:rPr lang="en-US" dirty="0"/>
            </a:br>
            <a:endParaRPr lang="en-IN" dirty="0"/>
          </a:p>
        </p:txBody>
      </p:sp>
      <p:pic>
        <p:nvPicPr>
          <p:cNvPr id="6" name="Picture 5">
            <a:extLst>
              <a:ext uri="{FF2B5EF4-FFF2-40B4-BE49-F238E27FC236}">
                <a16:creationId xmlns:a16="http://schemas.microsoft.com/office/drawing/2014/main" id="{1AA5828D-815B-02D6-9443-B8369E2DB04A}"/>
              </a:ext>
            </a:extLst>
          </p:cNvPr>
          <p:cNvPicPr>
            <a:picLocks noChangeAspect="1"/>
          </p:cNvPicPr>
          <p:nvPr/>
        </p:nvPicPr>
        <p:blipFill>
          <a:blip r:embed="rId2"/>
          <a:stretch>
            <a:fillRect/>
          </a:stretch>
        </p:blipFill>
        <p:spPr>
          <a:xfrm>
            <a:off x="725737" y="2433931"/>
            <a:ext cx="10621983" cy="4168200"/>
          </a:xfrm>
          <a:prstGeom prst="rect">
            <a:avLst/>
          </a:prstGeom>
        </p:spPr>
      </p:pic>
    </p:spTree>
    <p:extLst>
      <p:ext uri="{BB962C8B-B14F-4D97-AF65-F5344CB8AC3E}">
        <p14:creationId xmlns:p14="http://schemas.microsoft.com/office/powerpoint/2010/main" val="15210608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89838080-5359-3E46-455C-9A6E0E12FE5C}"/>
              </a:ext>
            </a:extLst>
          </p:cNvPr>
          <p:cNvSpPr txBox="1"/>
          <p:nvPr/>
        </p:nvSpPr>
        <p:spPr>
          <a:xfrm>
            <a:off x="4820430" y="819517"/>
            <a:ext cx="4663440" cy="369332"/>
          </a:xfrm>
          <a:prstGeom prst="rect">
            <a:avLst/>
          </a:prstGeom>
          <a:noFill/>
        </p:spPr>
        <p:txBody>
          <a:bodyPr wrap="square" rtlCol="0">
            <a:spAutoFit/>
          </a:bodyPr>
          <a:lstStyle/>
          <a:p>
            <a:r>
              <a:rPr lang="en-IN" b="1" dirty="0"/>
              <a:t>Data overview</a:t>
            </a:r>
          </a:p>
        </p:txBody>
      </p:sp>
      <p:sp>
        <p:nvSpPr>
          <p:cNvPr id="2" name="TextBox 1">
            <a:extLst>
              <a:ext uri="{FF2B5EF4-FFF2-40B4-BE49-F238E27FC236}">
                <a16:creationId xmlns:a16="http://schemas.microsoft.com/office/drawing/2014/main" id="{14D1958F-6D92-B3C9-6BA9-6E33129C2930}"/>
              </a:ext>
            </a:extLst>
          </p:cNvPr>
          <p:cNvSpPr txBox="1"/>
          <p:nvPr/>
        </p:nvSpPr>
        <p:spPr>
          <a:xfrm>
            <a:off x="658760" y="1524000"/>
            <a:ext cx="11179277"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This analysis is based on a dataset of </a:t>
            </a:r>
            <a:r>
              <a:rPr lang="en-US" b="1" dirty="0"/>
              <a:t>97,498</a:t>
            </a:r>
            <a:r>
              <a:rPr lang="en-US" dirty="0"/>
              <a:t> IT support tickets, sourced from an internal service management system, to evaluate help desk performance and identify key trends.</a:t>
            </a:r>
          </a:p>
          <a:p>
            <a:endParaRPr lang="en-US" dirty="0"/>
          </a:p>
          <a:p>
            <a:pPr marL="285750" indent="-285750">
              <a:buFont typeface="Arial" panose="020B0604020202020204" pitchFamily="34" charset="0"/>
              <a:buChar char="•"/>
            </a:pPr>
            <a:r>
              <a:rPr lang="en-US" dirty="0"/>
              <a:t>The data is structured into two main files: a Tickets Sheet that tracks every detail of support requests and an IT Agents Sheet with information about the support personnel.</a:t>
            </a:r>
          </a:p>
          <a:p>
            <a:endParaRPr lang="en-US" dirty="0"/>
          </a:p>
          <a:p>
            <a:pPr marL="285750" indent="-285750">
              <a:buFont typeface="Arial" panose="020B0604020202020204" pitchFamily="34" charset="0"/>
              <a:buChar char="•"/>
            </a:pPr>
            <a:r>
              <a:rPr lang="en-US" dirty="0"/>
              <a:t>Key performance indicators (KPIs) for this analysis include Resolution Time, which averages</a:t>
            </a:r>
            <a:r>
              <a:rPr lang="en-US" b="1" dirty="0"/>
              <a:t> 5 </a:t>
            </a:r>
            <a:r>
              <a:rPr lang="en-US" dirty="0"/>
              <a:t>days, and Employee Satisfaction, which is measured on a 1-to-5 scale.</a:t>
            </a:r>
          </a:p>
          <a:p>
            <a:endParaRPr lang="en-US" dirty="0"/>
          </a:p>
          <a:p>
            <a:pPr marL="285750" indent="-285750">
              <a:buFont typeface="Arial" panose="020B0604020202020204" pitchFamily="34" charset="0"/>
              <a:buChar char="•"/>
            </a:pPr>
            <a:r>
              <a:rPr lang="en-US" dirty="0"/>
              <a:t>The IT help desk manages a consistent workload, handling an average of </a:t>
            </a:r>
            <a:r>
              <a:rPr lang="en-US" b="1" dirty="0"/>
              <a:t>53</a:t>
            </a:r>
            <a:r>
              <a:rPr lang="en-US" dirty="0"/>
              <a:t> new tickets each day.</a:t>
            </a:r>
          </a:p>
          <a:p>
            <a:endParaRPr lang="en-US" dirty="0"/>
          </a:p>
          <a:p>
            <a:pPr marL="285750" indent="-285750">
              <a:buFont typeface="Arial" panose="020B0604020202020204" pitchFamily="34" charset="0"/>
              <a:buChar char="•"/>
            </a:pPr>
            <a:r>
              <a:rPr lang="en-US" dirty="0"/>
              <a:t>Each ticket is categorized by Request Category (like Login Access or System), Issue Type, Severity, and Priority, allowing for a detailed breakdown of support needs.</a:t>
            </a:r>
          </a:p>
          <a:p>
            <a:endParaRPr lang="en-US" dirty="0"/>
          </a:p>
          <a:p>
            <a:pPr marL="285750" indent="-285750">
              <a:buFont typeface="Arial" panose="020B0604020202020204" pitchFamily="34" charset="0"/>
              <a:buChar char="•"/>
            </a:pPr>
            <a:r>
              <a:rPr lang="en-US" dirty="0"/>
              <a:t>By linking the ticket data with the agent data using the Agent ID, we can analyze performance metrics in relation to specific agents and agent demographics.</a:t>
            </a:r>
          </a:p>
        </p:txBody>
      </p:sp>
    </p:spTree>
    <p:extLst>
      <p:ext uri="{BB962C8B-B14F-4D97-AF65-F5344CB8AC3E}">
        <p14:creationId xmlns:p14="http://schemas.microsoft.com/office/powerpoint/2010/main" val="39673064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230BEC-D60E-F9DC-B195-0666D71E1178}"/>
              </a:ext>
            </a:extLst>
          </p:cNvPr>
          <p:cNvSpPr txBox="1"/>
          <p:nvPr/>
        </p:nvSpPr>
        <p:spPr>
          <a:xfrm>
            <a:off x="3931920" y="470654"/>
            <a:ext cx="6096000" cy="369332"/>
          </a:xfrm>
          <a:prstGeom prst="rect">
            <a:avLst/>
          </a:prstGeom>
          <a:noFill/>
        </p:spPr>
        <p:txBody>
          <a:bodyPr wrap="square">
            <a:spAutoFit/>
          </a:bodyPr>
          <a:lstStyle/>
          <a:p>
            <a:r>
              <a:rPr lang="en-US" b="1" i="0" dirty="0">
                <a:effectLst/>
              </a:rPr>
              <a:t>Analysis of Ticket Volume (2016-2020)</a:t>
            </a:r>
            <a:endParaRPr lang="en-IN" b="1" dirty="0"/>
          </a:p>
        </p:txBody>
      </p:sp>
      <p:graphicFrame>
        <p:nvGraphicFramePr>
          <p:cNvPr id="4" name="Chart 3">
            <a:extLst>
              <a:ext uri="{FF2B5EF4-FFF2-40B4-BE49-F238E27FC236}">
                <a16:creationId xmlns:a16="http://schemas.microsoft.com/office/drawing/2014/main" id="{6583F3AB-CBEC-43D0-81E5-7AC93212B839}"/>
              </a:ext>
            </a:extLst>
          </p:cNvPr>
          <p:cNvGraphicFramePr>
            <a:graphicFrameLocks/>
          </p:cNvGraphicFramePr>
          <p:nvPr>
            <p:extLst>
              <p:ext uri="{D42A27DB-BD31-4B8C-83A1-F6EECF244321}">
                <p14:modId xmlns:p14="http://schemas.microsoft.com/office/powerpoint/2010/main" val="1398128667"/>
              </p:ext>
            </p:extLst>
          </p:nvPr>
        </p:nvGraphicFramePr>
        <p:xfrm>
          <a:off x="581949" y="1553960"/>
          <a:ext cx="5249891" cy="352604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8DA8F1DC-F04E-E393-8136-BEDF3BCAD8C7}"/>
              </a:ext>
            </a:extLst>
          </p:cNvPr>
          <p:cNvSpPr txBox="1"/>
          <p:nvPr/>
        </p:nvSpPr>
        <p:spPr>
          <a:xfrm>
            <a:off x="6979920" y="2147829"/>
            <a:ext cx="4792691" cy="2862322"/>
          </a:xfrm>
          <a:prstGeom prst="rect">
            <a:avLst/>
          </a:prstGeom>
          <a:noFill/>
        </p:spPr>
        <p:txBody>
          <a:bodyPr wrap="square">
            <a:spAutoFit/>
          </a:bodyPr>
          <a:lstStyle/>
          <a:p>
            <a:pPr algn="just"/>
            <a:r>
              <a:rPr lang="en-US" b="1" i="0" dirty="0">
                <a:effectLst/>
              </a:rPr>
              <a:t>Key Insights:</a:t>
            </a:r>
          </a:p>
          <a:p>
            <a:pPr algn="just"/>
            <a:endParaRPr lang="en-US" b="1" i="0" dirty="0">
              <a:effectLst/>
            </a:endParaRPr>
          </a:p>
          <a:p>
            <a:pPr marL="285750" indent="-285750">
              <a:buFont typeface="Arial" panose="020B0604020202020204" pitchFamily="34" charset="0"/>
              <a:buChar char="•"/>
            </a:pPr>
            <a:r>
              <a:rPr lang="en-US" dirty="0"/>
              <a:t>The number of support tickets shows a consistent upward trend, more than doubling over the five-year period from 13,051 in 2016 to 29,088 in 2020.</a:t>
            </a:r>
          </a:p>
          <a:p>
            <a:endParaRPr lang="en-US" dirty="0"/>
          </a:p>
          <a:p>
            <a:pPr marL="285750" indent="-285750">
              <a:buFont typeface="Arial" panose="020B0604020202020204" pitchFamily="34" charset="0"/>
              <a:buChar char="•"/>
            </a:pPr>
            <a:r>
              <a:rPr lang="en-US" dirty="0"/>
              <a:t>This growth in workload is accelerating, with the largest single-year jump in tickets occurring between 2019 and 2020.</a:t>
            </a:r>
          </a:p>
        </p:txBody>
      </p:sp>
    </p:spTree>
    <p:extLst>
      <p:ext uri="{BB962C8B-B14F-4D97-AF65-F5344CB8AC3E}">
        <p14:creationId xmlns:p14="http://schemas.microsoft.com/office/powerpoint/2010/main" val="120193756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ACD506-E666-39A7-7AFB-1581FB20A548}"/>
              </a:ext>
            </a:extLst>
          </p:cNvPr>
          <p:cNvSpPr txBox="1"/>
          <p:nvPr/>
        </p:nvSpPr>
        <p:spPr>
          <a:xfrm>
            <a:off x="4418617" y="600179"/>
            <a:ext cx="6096000" cy="923330"/>
          </a:xfrm>
          <a:prstGeom prst="rect">
            <a:avLst/>
          </a:prstGeom>
          <a:noFill/>
        </p:spPr>
        <p:txBody>
          <a:bodyPr wrap="square">
            <a:spAutoFit/>
          </a:bodyPr>
          <a:lstStyle/>
          <a:p>
            <a:pPr algn="l">
              <a:buNone/>
            </a:pPr>
            <a:r>
              <a:rPr lang="en-IN" b="1" i="0" dirty="0">
                <a:effectLst/>
              </a:rPr>
              <a:t>Ticket Distribution by Category</a:t>
            </a:r>
          </a:p>
          <a:p>
            <a:pPr>
              <a:buNone/>
            </a:pPr>
            <a:br>
              <a:rPr lang="en-IN" b="1" dirty="0"/>
            </a:br>
            <a:endParaRPr lang="en-IN" b="1" dirty="0"/>
          </a:p>
        </p:txBody>
      </p:sp>
      <p:sp>
        <p:nvSpPr>
          <p:cNvPr id="6" name="TextBox 5">
            <a:extLst>
              <a:ext uri="{FF2B5EF4-FFF2-40B4-BE49-F238E27FC236}">
                <a16:creationId xmlns:a16="http://schemas.microsoft.com/office/drawing/2014/main" id="{3821A69A-F44F-B38F-C6DD-7B98DC07F306}"/>
              </a:ext>
            </a:extLst>
          </p:cNvPr>
          <p:cNvSpPr txBox="1"/>
          <p:nvPr/>
        </p:nvSpPr>
        <p:spPr>
          <a:xfrm>
            <a:off x="6562049" y="2116062"/>
            <a:ext cx="5374313" cy="3416320"/>
          </a:xfrm>
          <a:prstGeom prst="rect">
            <a:avLst/>
          </a:prstGeom>
          <a:noFill/>
        </p:spPr>
        <p:txBody>
          <a:bodyPr wrap="square">
            <a:spAutoFit/>
          </a:bodyPr>
          <a:lstStyle/>
          <a:p>
            <a:pPr algn="l">
              <a:buNone/>
            </a:pPr>
            <a:r>
              <a:rPr lang="en-US" b="1" i="0" dirty="0">
                <a:effectLst/>
              </a:rPr>
              <a:t>Key Insights:</a:t>
            </a:r>
          </a:p>
          <a:p>
            <a:pPr algn="l">
              <a:buNone/>
            </a:pPr>
            <a:endParaRPr lang="en-US" b="1" i="0" dirty="0">
              <a:effectLst/>
            </a:endParaRPr>
          </a:p>
          <a:p>
            <a:pPr algn="just">
              <a:buFont typeface="Arial" panose="020B0604020202020204" pitchFamily="34" charset="0"/>
              <a:buChar char="•"/>
            </a:pPr>
            <a:r>
              <a:rPr lang="en-US" b="0" i="0" dirty="0">
                <a:effectLst/>
              </a:rPr>
              <a:t>Nearly 70% of all support tickets fall into just two categories: "System" (39,002 tickets) and "Login Access" (29,193 tickets).</a:t>
            </a:r>
          </a:p>
          <a:p>
            <a:pPr algn="just"/>
            <a:endParaRPr lang="en-US" b="0" i="0" dirty="0">
              <a:effectLst/>
            </a:endParaRPr>
          </a:p>
          <a:p>
            <a:pPr algn="just"/>
            <a:endParaRPr lang="en-US" b="0" i="0" dirty="0">
              <a:effectLst/>
            </a:endParaRPr>
          </a:p>
          <a:p>
            <a:pPr algn="just">
              <a:buFont typeface="Arial" panose="020B0604020202020204" pitchFamily="34" charset="0"/>
              <a:buChar char="•"/>
            </a:pPr>
            <a:r>
              <a:rPr lang="en-US" dirty="0"/>
              <a:t>Despite being a category, "Hardware" issues make up the smallest portion of tickets at just 10%, indicating they are less frequent but may have a different impact on resolution time.</a:t>
            </a:r>
          </a:p>
          <a:p>
            <a:pPr algn="l">
              <a:buFont typeface="Arial" panose="020B0604020202020204" pitchFamily="34" charset="0"/>
              <a:buChar char="•"/>
            </a:pPr>
            <a:endParaRPr lang="en-US" b="0" i="0" dirty="0">
              <a:effectLst/>
            </a:endParaRPr>
          </a:p>
        </p:txBody>
      </p:sp>
      <p:graphicFrame>
        <p:nvGraphicFramePr>
          <p:cNvPr id="3" name="Chart 2">
            <a:extLst>
              <a:ext uri="{FF2B5EF4-FFF2-40B4-BE49-F238E27FC236}">
                <a16:creationId xmlns:a16="http://schemas.microsoft.com/office/drawing/2014/main" id="{B8D0C749-19A0-49B8-A314-547C69985782}"/>
              </a:ext>
            </a:extLst>
          </p:cNvPr>
          <p:cNvGraphicFramePr>
            <a:graphicFrameLocks/>
          </p:cNvGraphicFramePr>
          <p:nvPr>
            <p:extLst>
              <p:ext uri="{D42A27DB-BD31-4B8C-83A1-F6EECF244321}">
                <p14:modId xmlns:p14="http://schemas.microsoft.com/office/powerpoint/2010/main" val="4206983453"/>
              </p:ext>
            </p:extLst>
          </p:nvPr>
        </p:nvGraphicFramePr>
        <p:xfrm>
          <a:off x="540774" y="1523509"/>
          <a:ext cx="5374313" cy="35794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949304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B37A6233-A0A8-4AA2-AC57-2336808C3E71}"/>
              </a:ext>
            </a:extLst>
          </p:cNvPr>
          <p:cNvGraphicFramePr>
            <a:graphicFrameLocks/>
          </p:cNvGraphicFramePr>
          <p:nvPr>
            <p:extLst>
              <p:ext uri="{D42A27DB-BD31-4B8C-83A1-F6EECF244321}">
                <p14:modId xmlns:p14="http://schemas.microsoft.com/office/powerpoint/2010/main" val="3015017841"/>
              </p:ext>
            </p:extLst>
          </p:nvPr>
        </p:nvGraphicFramePr>
        <p:xfrm>
          <a:off x="476886" y="1732280"/>
          <a:ext cx="5619114" cy="339344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9011EE03-F59F-FBD6-9EFF-48D80C0EC77D}"/>
              </a:ext>
            </a:extLst>
          </p:cNvPr>
          <p:cNvSpPr txBox="1"/>
          <p:nvPr/>
        </p:nvSpPr>
        <p:spPr>
          <a:xfrm>
            <a:off x="4013528" y="629937"/>
            <a:ext cx="6096000" cy="369332"/>
          </a:xfrm>
          <a:prstGeom prst="rect">
            <a:avLst/>
          </a:prstGeom>
          <a:noFill/>
        </p:spPr>
        <p:txBody>
          <a:bodyPr wrap="square">
            <a:spAutoFit/>
          </a:bodyPr>
          <a:lstStyle/>
          <a:p>
            <a:r>
              <a:rPr lang="en-US" b="1" i="0" dirty="0">
                <a:effectLst/>
              </a:rPr>
              <a:t>Evolution of Customer Satisfaction (2016-2020)</a:t>
            </a:r>
            <a:endParaRPr lang="en-IN" b="1" dirty="0"/>
          </a:p>
        </p:txBody>
      </p:sp>
      <p:sp>
        <p:nvSpPr>
          <p:cNvPr id="6" name="TextBox 5">
            <a:extLst>
              <a:ext uri="{FF2B5EF4-FFF2-40B4-BE49-F238E27FC236}">
                <a16:creationId xmlns:a16="http://schemas.microsoft.com/office/drawing/2014/main" id="{3152D361-ED05-391F-143C-8C8F728A95A3}"/>
              </a:ext>
            </a:extLst>
          </p:cNvPr>
          <p:cNvSpPr txBox="1"/>
          <p:nvPr/>
        </p:nvSpPr>
        <p:spPr>
          <a:xfrm>
            <a:off x="6478453" y="2048506"/>
            <a:ext cx="5546399" cy="3139321"/>
          </a:xfrm>
          <a:prstGeom prst="rect">
            <a:avLst/>
          </a:prstGeom>
          <a:noFill/>
        </p:spPr>
        <p:txBody>
          <a:bodyPr wrap="square">
            <a:spAutoFit/>
          </a:bodyPr>
          <a:lstStyle/>
          <a:p>
            <a:pPr algn="l">
              <a:buNone/>
            </a:pPr>
            <a:r>
              <a:rPr lang="en-US" b="1" i="0" dirty="0">
                <a:effectLst/>
              </a:rPr>
              <a:t>Key Insights:</a:t>
            </a:r>
          </a:p>
          <a:p>
            <a:pPr algn="l">
              <a:buNone/>
            </a:pPr>
            <a:endParaRPr lang="en-US" b="1" i="0" dirty="0">
              <a:effectLst/>
            </a:endParaRPr>
          </a:p>
          <a:p>
            <a:pPr marL="285750" indent="-285750" algn="just">
              <a:buFont typeface="Arial" panose="020B0604020202020204" pitchFamily="34" charset="0"/>
              <a:buChar char="•"/>
            </a:pPr>
            <a:r>
              <a:rPr lang="en-US" dirty="0"/>
              <a:t>There has been a steady, positive improvement in service quality, with the average customer satisfaction score increasing from 3.98 in 2016 to a high of 4.16 in 2020.</a:t>
            </a:r>
          </a:p>
          <a:p>
            <a:pPr algn="just"/>
            <a:endParaRPr lang="en-US" dirty="0"/>
          </a:p>
          <a:p>
            <a:pPr marL="285750" indent="-285750" algn="just">
              <a:buFont typeface="Arial" panose="020B0604020202020204" pitchFamily="34" charset="0"/>
              <a:buChar char="•"/>
            </a:pPr>
            <a:r>
              <a:rPr lang="en-US" dirty="0"/>
              <a:t>The upward trend suggests that strategic initiatives such as agent training, process improvements have been effective in enhancing user's perception of service</a:t>
            </a:r>
            <a:r>
              <a:rPr lang="en-US" dirty="0">
                <a:latin typeface="fkGroteskNeue"/>
              </a:rPr>
              <a:t>.</a:t>
            </a:r>
            <a:endParaRPr lang="en-IN" dirty="0"/>
          </a:p>
        </p:txBody>
      </p:sp>
    </p:spTree>
    <p:extLst>
      <p:ext uri="{BB962C8B-B14F-4D97-AF65-F5344CB8AC3E}">
        <p14:creationId xmlns:p14="http://schemas.microsoft.com/office/powerpoint/2010/main" val="231538233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5220EE8-2A58-4F36-B6F7-3EE72C212FCE}"/>
              </a:ext>
            </a:extLst>
          </p:cNvPr>
          <p:cNvGraphicFramePr>
            <a:graphicFrameLocks/>
          </p:cNvGraphicFramePr>
          <p:nvPr>
            <p:extLst>
              <p:ext uri="{D42A27DB-BD31-4B8C-83A1-F6EECF244321}">
                <p14:modId xmlns:p14="http://schemas.microsoft.com/office/powerpoint/2010/main" val="2842614280"/>
              </p:ext>
            </p:extLst>
          </p:nvPr>
        </p:nvGraphicFramePr>
        <p:xfrm>
          <a:off x="274320" y="1601354"/>
          <a:ext cx="5476240" cy="365529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DD6F6199-B410-531F-20FC-9CBBD8E5B24F}"/>
              </a:ext>
            </a:extLst>
          </p:cNvPr>
          <p:cNvSpPr txBox="1"/>
          <p:nvPr/>
        </p:nvSpPr>
        <p:spPr>
          <a:xfrm>
            <a:off x="4286864" y="530712"/>
            <a:ext cx="6096000" cy="923330"/>
          </a:xfrm>
          <a:prstGeom prst="rect">
            <a:avLst/>
          </a:prstGeom>
          <a:noFill/>
        </p:spPr>
        <p:txBody>
          <a:bodyPr wrap="square">
            <a:spAutoFit/>
          </a:bodyPr>
          <a:lstStyle/>
          <a:p>
            <a:pPr algn="l">
              <a:buNone/>
            </a:pPr>
            <a:r>
              <a:rPr lang="en-US" b="1" i="0" dirty="0">
                <a:effectLst/>
              </a:rPr>
              <a:t>Analysis of Tickets by Severity Level</a:t>
            </a:r>
          </a:p>
          <a:p>
            <a:pPr>
              <a:buNone/>
            </a:pPr>
            <a:br>
              <a:rPr lang="en-US" b="1" dirty="0"/>
            </a:br>
            <a:endParaRPr lang="en-IN" b="1" dirty="0"/>
          </a:p>
        </p:txBody>
      </p:sp>
      <p:sp>
        <p:nvSpPr>
          <p:cNvPr id="6" name="TextBox 5">
            <a:extLst>
              <a:ext uri="{FF2B5EF4-FFF2-40B4-BE49-F238E27FC236}">
                <a16:creationId xmlns:a16="http://schemas.microsoft.com/office/drawing/2014/main" id="{B22C4890-B8A5-C5F8-4DF3-F32E3AD6E3FA}"/>
              </a:ext>
            </a:extLst>
          </p:cNvPr>
          <p:cNvSpPr txBox="1"/>
          <p:nvPr/>
        </p:nvSpPr>
        <p:spPr>
          <a:xfrm>
            <a:off x="6276258" y="1797999"/>
            <a:ext cx="5306142" cy="3693319"/>
          </a:xfrm>
          <a:prstGeom prst="rect">
            <a:avLst/>
          </a:prstGeom>
          <a:noFill/>
        </p:spPr>
        <p:txBody>
          <a:bodyPr wrap="square">
            <a:spAutoFit/>
          </a:bodyPr>
          <a:lstStyle/>
          <a:p>
            <a:pPr algn="just">
              <a:buNone/>
            </a:pPr>
            <a:r>
              <a:rPr lang="en-US" b="1" i="0" dirty="0">
                <a:effectLst/>
              </a:rPr>
              <a:t>Key Insights:</a:t>
            </a:r>
          </a:p>
          <a:p>
            <a:pPr algn="just">
              <a:buNone/>
            </a:pPr>
            <a:endParaRPr lang="en-US" b="1" i="0" dirty="0">
              <a:effectLst/>
            </a:endParaRPr>
          </a:p>
          <a:p>
            <a:pPr marL="285750" indent="-285750" algn="just">
              <a:buFont typeface="Arial" panose="020B0604020202020204" pitchFamily="34" charset="0"/>
              <a:buChar char="•"/>
            </a:pPr>
            <a:r>
              <a:rPr lang="en-US" dirty="0"/>
              <a:t>The vast majority of support tickets, 88,656 in total, are classified with a "Normal" severity level, which constitutes the standard, day-to-day workload for the IT team.</a:t>
            </a:r>
          </a:p>
          <a:p>
            <a:pPr algn="just"/>
            <a:endParaRPr lang="en-US" dirty="0"/>
          </a:p>
          <a:p>
            <a:pPr marL="285750" indent="-285750" algn="just">
              <a:buFont typeface="Arial" panose="020B0604020202020204" pitchFamily="34" charset="0"/>
              <a:buChar char="•"/>
            </a:pPr>
            <a:r>
              <a:rPr lang="en-US" dirty="0"/>
              <a:t>Despite their smaller volume, "Major" (4,836) and "Urgent" (1,392) tickets represent the most critical issues, requiring fast and effective handling to manage their high impact on users and business operations.</a:t>
            </a:r>
          </a:p>
          <a:p>
            <a:pPr algn="l"/>
            <a:endParaRPr lang="en-US" b="0" i="0" dirty="0">
              <a:effectLst/>
              <a:latin typeface="fkGroteskNeue"/>
            </a:endParaRPr>
          </a:p>
        </p:txBody>
      </p:sp>
    </p:spTree>
    <p:extLst>
      <p:ext uri="{BB962C8B-B14F-4D97-AF65-F5344CB8AC3E}">
        <p14:creationId xmlns:p14="http://schemas.microsoft.com/office/powerpoint/2010/main" val="29422049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E2E0C27D-95FB-4A56-90F4-EBA468C3DBD2}"/>
              </a:ext>
            </a:extLst>
          </p:cNvPr>
          <p:cNvGraphicFramePr>
            <a:graphicFrameLocks/>
          </p:cNvGraphicFramePr>
          <p:nvPr>
            <p:extLst>
              <p:ext uri="{D42A27DB-BD31-4B8C-83A1-F6EECF244321}">
                <p14:modId xmlns:p14="http://schemas.microsoft.com/office/powerpoint/2010/main" val="843031211"/>
              </p:ext>
            </p:extLst>
          </p:nvPr>
        </p:nvGraphicFramePr>
        <p:xfrm>
          <a:off x="411151" y="1697375"/>
          <a:ext cx="5124409" cy="332703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8716C751-EF8C-21D1-3C2D-8F3F07E44ED8}"/>
              </a:ext>
            </a:extLst>
          </p:cNvPr>
          <p:cNvSpPr txBox="1"/>
          <p:nvPr/>
        </p:nvSpPr>
        <p:spPr>
          <a:xfrm>
            <a:off x="4072521" y="700074"/>
            <a:ext cx="6096000" cy="369332"/>
          </a:xfrm>
          <a:prstGeom prst="rect">
            <a:avLst/>
          </a:prstGeom>
          <a:noFill/>
        </p:spPr>
        <p:txBody>
          <a:bodyPr wrap="square">
            <a:spAutoFit/>
          </a:bodyPr>
          <a:lstStyle/>
          <a:p>
            <a:pPr algn="l">
              <a:buNone/>
            </a:pPr>
            <a:r>
              <a:rPr lang="en-US" b="1" i="0" dirty="0">
                <a:effectLst/>
              </a:rPr>
              <a:t>Ticket Distribution by Satisfaction Score</a:t>
            </a:r>
          </a:p>
        </p:txBody>
      </p:sp>
      <p:sp>
        <p:nvSpPr>
          <p:cNvPr id="6" name="TextBox 5">
            <a:extLst>
              <a:ext uri="{FF2B5EF4-FFF2-40B4-BE49-F238E27FC236}">
                <a16:creationId xmlns:a16="http://schemas.microsoft.com/office/drawing/2014/main" id="{69DDBEEC-F2FD-E143-BEA5-EE4E80BA4323}"/>
              </a:ext>
            </a:extLst>
          </p:cNvPr>
          <p:cNvSpPr txBox="1"/>
          <p:nvPr/>
        </p:nvSpPr>
        <p:spPr>
          <a:xfrm>
            <a:off x="5819223" y="1697375"/>
            <a:ext cx="5861500" cy="3416320"/>
          </a:xfrm>
          <a:prstGeom prst="rect">
            <a:avLst/>
          </a:prstGeom>
          <a:noFill/>
        </p:spPr>
        <p:txBody>
          <a:bodyPr wrap="square">
            <a:spAutoFit/>
          </a:bodyPr>
          <a:lstStyle/>
          <a:p>
            <a:pPr algn="just">
              <a:buNone/>
            </a:pPr>
            <a:r>
              <a:rPr lang="en-US" b="1" i="0" dirty="0">
                <a:effectLst/>
              </a:rPr>
              <a:t>Key Insights:</a:t>
            </a:r>
          </a:p>
          <a:p>
            <a:pPr algn="just">
              <a:buNone/>
            </a:pPr>
            <a:endParaRPr lang="en-US" b="1" i="0" dirty="0">
              <a:effectLst/>
            </a:endParaRPr>
          </a:p>
          <a:p>
            <a:pPr marL="285750" indent="-285750" algn="just">
              <a:buFont typeface="Arial" panose="020B0604020202020204" pitchFamily="34" charset="0"/>
              <a:buChar char="•"/>
            </a:pPr>
            <a:r>
              <a:rPr lang="en-US" dirty="0"/>
              <a:t>A strong majority of users are highly satisfied, with 50,770 tickets receiving the highest possible satisfaction score of 5, indicating the team's capability to deliver excellent service.</a:t>
            </a:r>
          </a:p>
          <a:p>
            <a:pPr algn="just"/>
            <a:endParaRPr lang="en-US" dirty="0"/>
          </a:p>
          <a:p>
            <a:pPr marL="285750" indent="-285750" algn="just">
              <a:buFont typeface="Arial" panose="020B0604020202020204" pitchFamily="34" charset="0"/>
              <a:buChar char="•"/>
            </a:pPr>
            <a:r>
              <a:rPr lang="en-US" dirty="0"/>
              <a:t>However, a significant number of users remain dissatisfied. Over 19,000 tickets received low scores (1, 2, or 3), highlighting a clear opportunity to improve service consistency and address the root causes of poor feedback.</a:t>
            </a:r>
          </a:p>
        </p:txBody>
      </p:sp>
    </p:spTree>
    <p:extLst>
      <p:ext uri="{BB962C8B-B14F-4D97-AF65-F5344CB8AC3E}">
        <p14:creationId xmlns:p14="http://schemas.microsoft.com/office/powerpoint/2010/main" val="374441080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8E946B-6C51-78F6-A44F-F9F238E338CE}"/>
              </a:ext>
            </a:extLst>
          </p:cNvPr>
          <p:cNvSpPr txBox="1"/>
          <p:nvPr/>
        </p:nvSpPr>
        <p:spPr>
          <a:xfrm>
            <a:off x="2723535" y="686813"/>
            <a:ext cx="6567948" cy="338554"/>
          </a:xfrm>
          <a:prstGeom prst="rect">
            <a:avLst/>
          </a:prstGeom>
          <a:noFill/>
        </p:spPr>
        <p:txBody>
          <a:bodyPr wrap="square">
            <a:spAutoFit/>
          </a:bodyPr>
          <a:lstStyle/>
          <a:p>
            <a:pPr algn="ctr" rtl="0">
              <a:defRPr sz="1080" b="0" i="0" u="none" strike="noStrike" kern="1200" spc="0" baseline="0">
                <a:solidFill>
                  <a:srgbClr val="000000">
                    <a:lumMod val="95000"/>
                    <a:lumOff val="5000"/>
                  </a:srgbClr>
                </a:solidFill>
                <a:latin typeface="+mn-lt"/>
                <a:ea typeface="+mn-ea"/>
                <a:cs typeface="+mn-cs"/>
              </a:defRPr>
            </a:pPr>
            <a:r>
              <a:rPr lang="en-US" sz="1600" b="1" dirty="0">
                <a:solidFill>
                  <a:schemeClr val="tx1">
                    <a:lumMod val="95000"/>
                    <a:lumOff val="5000"/>
                  </a:schemeClr>
                </a:solidFill>
              </a:rPr>
              <a:t>Average resolution time by request category </a:t>
            </a:r>
          </a:p>
        </p:txBody>
      </p:sp>
      <p:graphicFrame>
        <p:nvGraphicFramePr>
          <p:cNvPr id="5" name="Chart 4">
            <a:extLst>
              <a:ext uri="{FF2B5EF4-FFF2-40B4-BE49-F238E27FC236}">
                <a16:creationId xmlns:a16="http://schemas.microsoft.com/office/drawing/2014/main" id="{93915CAF-AB5E-4B00-8C47-78B90ADF25E4}"/>
              </a:ext>
            </a:extLst>
          </p:cNvPr>
          <p:cNvGraphicFramePr>
            <a:graphicFrameLocks/>
          </p:cNvGraphicFramePr>
          <p:nvPr>
            <p:extLst>
              <p:ext uri="{D42A27DB-BD31-4B8C-83A1-F6EECF244321}">
                <p14:modId xmlns:p14="http://schemas.microsoft.com/office/powerpoint/2010/main" val="48120835"/>
              </p:ext>
            </p:extLst>
          </p:nvPr>
        </p:nvGraphicFramePr>
        <p:xfrm>
          <a:off x="787311" y="1962212"/>
          <a:ext cx="4748249" cy="3160394"/>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3F4F9EAE-1627-395E-7540-751AA54262D6}"/>
              </a:ext>
            </a:extLst>
          </p:cNvPr>
          <p:cNvSpPr txBox="1"/>
          <p:nvPr/>
        </p:nvSpPr>
        <p:spPr>
          <a:xfrm>
            <a:off x="6096000" y="1962212"/>
            <a:ext cx="5309419" cy="3970318"/>
          </a:xfrm>
          <a:prstGeom prst="rect">
            <a:avLst/>
          </a:prstGeom>
          <a:noFill/>
        </p:spPr>
        <p:txBody>
          <a:bodyPr wrap="square" rtlCol="0">
            <a:spAutoFit/>
          </a:bodyPr>
          <a:lstStyle/>
          <a:p>
            <a:pPr algn="just"/>
            <a:r>
              <a:rPr lang="en-US" b="1" dirty="0"/>
              <a:t>Key insights:</a:t>
            </a:r>
          </a:p>
          <a:p>
            <a:pPr algn="just"/>
            <a:endParaRPr lang="en-US" b="1" dirty="0"/>
          </a:p>
          <a:p>
            <a:pPr marL="285750" indent="-285750" algn="just">
              <a:buFont typeface="Arial" panose="020B0604020202020204" pitchFamily="34" charset="0"/>
              <a:buChar char="•"/>
            </a:pPr>
            <a:r>
              <a:rPr lang="en-US" dirty="0"/>
              <a:t>Hardware and Login Access issues take the longest to resolve. Tickets related to Hardware take an average of 7.63 days, while Login Access requests take 6.62 days, making them the most time-consuming categories for the IT support team.</a:t>
            </a:r>
          </a:p>
          <a:p>
            <a:pPr algn="just"/>
            <a:endParaRPr lang="en-US" dirty="0"/>
          </a:p>
          <a:p>
            <a:pPr marL="285750" indent="-285750" algn="just">
              <a:buFont typeface="Arial" panose="020B0604020202020204" pitchFamily="34" charset="0"/>
              <a:buChar char="•"/>
            </a:pPr>
            <a:r>
              <a:rPr lang="en-US" dirty="0"/>
              <a:t>System-related requests are resolved exceptionally fast. In stark contrast, System issues are handled with high efficiency, showing an average resolution time of only 0.31 days, which is significantly faster than all other categories.</a:t>
            </a:r>
          </a:p>
          <a:p>
            <a:endParaRPr lang="en-IN" dirty="0"/>
          </a:p>
        </p:txBody>
      </p:sp>
    </p:spTree>
    <p:extLst>
      <p:ext uri="{BB962C8B-B14F-4D97-AF65-F5344CB8AC3E}">
        <p14:creationId xmlns:p14="http://schemas.microsoft.com/office/powerpoint/2010/main" val="383849446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F52BC40-DE9F-4226-9E36-8717C50DA30B}"/>
              </a:ext>
            </a:extLst>
          </p:cNvPr>
          <p:cNvGraphicFramePr>
            <a:graphicFrameLocks/>
          </p:cNvGraphicFramePr>
          <p:nvPr>
            <p:extLst>
              <p:ext uri="{D42A27DB-BD31-4B8C-83A1-F6EECF244321}">
                <p14:modId xmlns:p14="http://schemas.microsoft.com/office/powerpoint/2010/main" val="828392128"/>
              </p:ext>
            </p:extLst>
          </p:nvPr>
        </p:nvGraphicFramePr>
        <p:xfrm>
          <a:off x="603600" y="1863551"/>
          <a:ext cx="5374413" cy="3209894"/>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712D12EF-9A77-0C5F-B1DB-250070064990}"/>
              </a:ext>
            </a:extLst>
          </p:cNvPr>
          <p:cNvSpPr txBox="1"/>
          <p:nvPr/>
        </p:nvSpPr>
        <p:spPr>
          <a:xfrm>
            <a:off x="4090220" y="668593"/>
            <a:ext cx="5683045" cy="338554"/>
          </a:xfrm>
          <a:prstGeom prst="rect">
            <a:avLst/>
          </a:prstGeom>
          <a:noFill/>
        </p:spPr>
        <p:txBody>
          <a:bodyPr wrap="square" rtlCol="0">
            <a:spAutoFit/>
          </a:bodyPr>
          <a:lstStyle/>
          <a:p>
            <a:r>
              <a:rPr lang="en-IN" sz="1600" b="1" dirty="0"/>
              <a:t>Distribution of tickets based on resolution time </a:t>
            </a:r>
          </a:p>
        </p:txBody>
      </p:sp>
      <p:sp>
        <p:nvSpPr>
          <p:cNvPr id="4" name="TextBox 3">
            <a:extLst>
              <a:ext uri="{FF2B5EF4-FFF2-40B4-BE49-F238E27FC236}">
                <a16:creationId xmlns:a16="http://schemas.microsoft.com/office/drawing/2014/main" id="{7D6A3F44-E02F-7799-91BC-08888116F0A1}"/>
              </a:ext>
            </a:extLst>
          </p:cNvPr>
          <p:cNvSpPr txBox="1"/>
          <p:nvPr/>
        </p:nvSpPr>
        <p:spPr>
          <a:xfrm>
            <a:off x="6483290" y="1863551"/>
            <a:ext cx="5374413"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t>A vast majority of tickets are resolved quickly. The highest volume of tickets, 25,071, are resolved on the same day they are created (0 days resolution time), demonstrating a high level of efficiency for a large portion of support requests.</a:t>
            </a:r>
          </a:p>
          <a:p>
            <a:pPr algn="just"/>
            <a:endParaRPr lang="en-US" dirty="0"/>
          </a:p>
          <a:p>
            <a:pPr marL="285750" indent="-285750" algn="just">
              <a:buFont typeface="Arial" panose="020B0604020202020204" pitchFamily="34" charset="0"/>
              <a:buChar char="•"/>
            </a:pPr>
            <a:r>
              <a:rPr lang="en-US" dirty="0"/>
              <a:t>There is a steep decline in ticket volume as resolution time increases. The number of tickets drops sharply after the first few days. This indicates that while most issues are handled promptly, there is a long tail of more complex problems that take significantly longer to close.</a:t>
            </a:r>
          </a:p>
          <a:p>
            <a:endParaRPr lang="en-IN" dirty="0"/>
          </a:p>
        </p:txBody>
      </p:sp>
    </p:spTree>
    <p:extLst>
      <p:ext uri="{BB962C8B-B14F-4D97-AF65-F5344CB8AC3E}">
        <p14:creationId xmlns:p14="http://schemas.microsoft.com/office/powerpoint/2010/main" val="400137097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57BDC5-4A98-5B3F-6CEB-7490DC433ED4}"/>
              </a:ext>
            </a:extLst>
          </p:cNvPr>
          <p:cNvSpPr txBox="1"/>
          <p:nvPr/>
        </p:nvSpPr>
        <p:spPr>
          <a:xfrm>
            <a:off x="5604387" y="2551752"/>
            <a:ext cx="6184490" cy="2585323"/>
          </a:xfrm>
          <a:prstGeom prst="rect">
            <a:avLst/>
          </a:prstGeom>
          <a:noFill/>
        </p:spPr>
        <p:txBody>
          <a:bodyPr wrap="square">
            <a:spAutoFit/>
          </a:bodyPr>
          <a:lstStyle/>
          <a:p>
            <a:pPr algn="just">
              <a:buFont typeface="Arial" panose="020B0604020202020204" pitchFamily="34" charset="0"/>
              <a:buChar char="•"/>
            </a:pPr>
            <a:r>
              <a:rPr lang="en-US" b="0" i="0" dirty="0">
                <a:effectLst/>
                <a:latin typeface="fkGroteskNeue"/>
              </a:rPr>
              <a:t>The highest satisfaction rates are reported by the youngest and oldest age groups. Users aged 20–29 have the highest satisfaction at 4.23, while the 50+ age group also reports high satisfaction at 4.16</a:t>
            </a:r>
          </a:p>
          <a:p>
            <a:pPr algn="just"/>
            <a:endParaRPr lang="en-US" b="0" i="0" dirty="0">
              <a:effectLst/>
              <a:latin typeface="fkGroteskNeue"/>
            </a:endParaRPr>
          </a:p>
          <a:p>
            <a:pPr algn="just">
              <a:buFont typeface="Arial" panose="020B0604020202020204" pitchFamily="34" charset="0"/>
              <a:buChar char="•"/>
            </a:pPr>
            <a:r>
              <a:rPr lang="en-US" b="0" i="0" dirty="0">
                <a:effectLst/>
                <a:latin typeface="fkGroteskNeue"/>
              </a:rPr>
              <a:t>The lowest satisfaction comes from the middle age groups. The 40–49 age group reports the lowest satisfaction score at 4.05, suggesting that the support experience may not be as well-aligned with the expectations of users in this demographic.</a:t>
            </a:r>
          </a:p>
        </p:txBody>
      </p:sp>
      <p:graphicFrame>
        <p:nvGraphicFramePr>
          <p:cNvPr id="4" name="Chart 3">
            <a:extLst>
              <a:ext uri="{FF2B5EF4-FFF2-40B4-BE49-F238E27FC236}">
                <a16:creationId xmlns:a16="http://schemas.microsoft.com/office/drawing/2014/main" id="{32D7420B-52E3-434F-835A-DB13F7CBEF7F}"/>
              </a:ext>
            </a:extLst>
          </p:cNvPr>
          <p:cNvGraphicFramePr>
            <a:graphicFrameLocks/>
          </p:cNvGraphicFramePr>
          <p:nvPr>
            <p:extLst>
              <p:ext uri="{D42A27DB-BD31-4B8C-83A1-F6EECF244321}">
                <p14:modId xmlns:p14="http://schemas.microsoft.com/office/powerpoint/2010/main" val="2358012085"/>
              </p:ext>
            </p:extLst>
          </p:nvPr>
        </p:nvGraphicFramePr>
        <p:xfrm>
          <a:off x="472396" y="2056784"/>
          <a:ext cx="4846856" cy="315431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8ACA7F8E-2EFF-98A3-4D63-119EB167914D}"/>
              </a:ext>
            </a:extLst>
          </p:cNvPr>
          <p:cNvSpPr txBox="1"/>
          <p:nvPr/>
        </p:nvSpPr>
        <p:spPr>
          <a:xfrm>
            <a:off x="4581833" y="847702"/>
            <a:ext cx="5466735" cy="338554"/>
          </a:xfrm>
          <a:prstGeom prst="rect">
            <a:avLst/>
          </a:prstGeom>
          <a:noFill/>
        </p:spPr>
        <p:txBody>
          <a:bodyPr wrap="square" rtlCol="0">
            <a:spAutoFit/>
          </a:bodyPr>
          <a:lstStyle/>
          <a:p>
            <a:r>
              <a:rPr lang="en-IN" sz="1600" b="1" dirty="0"/>
              <a:t>Age group by satisfaction rate</a:t>
            </a:r>
          </a:p>
        </p:txBody>
      </p:sp>
    </p:spTree>
    <p:extLst>
      <p:ext uri="{BB962C8B-B14F-4D97-AF65-F5344CB8AC3E}">
        <p14:creationId xmlns:p14="http://schemas.microsoft.com/office/powerpoint/2010/main" val="350687578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EFD2E1-4A1E-5233-07E0-5C45C850EA6A}"/>
              </a:ext>
            </a:extLst>
          </p:cNvPr>
          <p:cNvSpPr txBox="1"/>
          <p:nvPr/>
        </p:nvSpPr>
        <p:spPr>
          <a:xfrm>
            <a:off x="5155708" y="447407"/>
            <a:ext cx="6096000" cy="369332"/>
          </a:xfrm>
          <a:prstGeom prst="rect">
            <a:avLst/>
          </a:prstGeom>
          <a:noFill/>
        </p:spPr>
        <p:txBody>
          <a:bodyPr wrap="square">
            <a:spAutoFit/>
          </a:bodyPr>
          <a:lstStyle/>
          <a:p>
            <a:pPr>
              <a:buNone/>
            </a:pPr>
            <a:r>
              <a:rPr lang="en-IN" b="1" dirty="0"/>
              <a:t>Dashboard</a:t>
            </a:r>
          </a:p>
        </p:txBody>
      </p:sp>
      <p:pic>
        <p:nvPicPr>
          <p:cNvPr id="4" name="Picture 3">
            <a:extLst>
              <a:ext uri="{FF2B5EF4-FFF2-40B4-BE49-F238E27FC236}">
                <a16:creationId xmlns:a16="http://schemas.microsoft.com/office/drawing/2014/main" id="{DEE78F9C-3B38-78C9-5A45-4FC866137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00" y="1294867"/>
            <a:ext cx="11982000" cy="4268266"/>
          </a:xfrm>
          <a:prstGeom prst="rect">
            <a:avLst/>
          </a:prstGeom>
        </p:spPr>
      </p:pic>
    </p:spTree>
    <p:extLst>
      <p:ext uri="{BB962C8B-B14F-4D97-AF65-F5344CB8AC3E}">
        <p14:creationId xmlns:p14="http://schemas.microsoft.com/office/powerpoint/2010/main" val="196959615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C52E8C-B8A7-8DF1-BB93-9E374A235A30}"/>
              </a:ext>
            </a:extLst>
          </p:cNvPr>
          <p:cNvSpPr txBox="1"/>
          <p:nvPr/>
        </p:nvSpPr>
        <p:spPr>
          <a:xfrm>
            <a:off x="4480560" y="436568"/>
            <a:ext cx="6096000" cy="369332"/>
          </a:xfrm>
          <a:prstGeom prst="rect">
            <a:avLst/>
          </a:prstGeom>
          <a:noFill/>
        </p:spPr>
        <p:txBody>
          <a:bodyPr wrap="square">
            <a:spAutoFit/>
          </a:bodyPr>
          <a:lstStyle/>
          <a:p>
            <a:r>
              <a:rPr lang="en-IN" b="1" i="0" dirty="0">
                <a:effectLst/>
              </a:rPr>
              <a:t>Recommended Action Plan</a:t>
            </a:r>
            <a:endParaRPr lang="en-IN" b="1" dirty="0"/>
          </a:p>
        </p:txBody>
      </p:sp>
      <p:sp>
        <p:nvSpPr>
          <p:cNvPr id="5" name="TextBox 4">
            <a:extLst>
              <a:ext uri="{FF2B5EF4-FFF2-40B4-BE49-F238E27FC236}">
                <a16:creationId xmlns:a16="http://schemas.microsoft.com/office/drawing/2014/main" id="{9815D4D5-90B4-5C71-5990-95DB35988FA2}"/>
              </a:ext>
            </a:extLst>
          </p:cNvPr>
          <p:cNvSpPr txBox="1"/>
          <p:nvPr/>
        </p:nvSpPr>
        <p:spPr>
          <a:xfrm>
            <a:off x="690880" y="1578600"/>
            <a:ext cx="10810240" cy="3416320"/>
          </a:xfrm>
          <a:prstGeom prst="rect">
            <a:avLst/>
          </a:prstGeom>
          <a:noFill/>
        </p:spPr>
        <p:txBody>
          <a:bodyPr wrap="square">
            <a:spAutoFit/>
          </a:bodyPr>
          <a:lstStyle/>
          <a:p>
            <a:pPr algn="l"/>
            <a:r>
              <a:rPr lang="en-US" b="1" i="0" dirty="0">
                <a:effectLst/>
              </a:rPr>
              <a:t>1. Primary Recommendation:</a:t>
            </a:r>
          </a:p>
          <a:p>
            <a:pPr marL="742950" lvl="1" indent="-285750" algn="l">
              <a:buFont typeface="Arial" panose="020B0604020202020204" pitchFamily="34" charset="0"/>
              <a:buChar char="•"/>
            </a:pPr>
            <a:endParaRPr lang="en-US" b="1" dirty="0"/>
          </a:p>
          <a:p>
            <a:pPr marL="742950" lvl="1" indent="-285750" algn="just">
              <a:buFont typeface="Arial" panose="020B0604020202020204" pitchFamily="34" charset="0"/>
              <a:buChar char="•"/>
            </a:pPr>
            <a:r>
              <a:rPr lang="en-US" b="0" i="0" dirty="0">
                <a:effectLst/>
              </a:rPr>
              <a:t>Invest in a better Ticket Management Software. The current system is inefficient, especially at handling complex tickets and allowing for automation. A new tool is the foundation for all other improvements.</a:t>
            </a:r>
          </a:p>
          <a:p>
            <a:pPr lvl="1" algn="just"/>
            <a:endParaRPr lang="en-US" b="0" i="0" dirty="0">
              <a:effectLst/>
            </a:endParaRPr>
          </a:p>
          <a:p>
            <a:pPr algn="just"/>
            <a:r>
              <a:rPr lang="en-US" b="1" i="0" dirty="0">
                <a:effectLst/>
              </a:rPr>
              <a:t>2. Secondary Recommendations:</a:t>
            </a:r>
          </a:p>
          <a:p>
            <a:pPr algn="just"/>
            <a:endParaRPr lang="en-US" b="1" i="0" dirty="0">
              <a:effectLst/>
            </a:endParaRPr>
          </a:p>
          <a:p>
            <a:pPr marL="742950" lvl="1" indent="-285750" algn="just">
              <a:buFont typeface="Arial" panose="020B0604020202020204" pitchFamily="34" charset="0"/>
              <a:buChar char="•"/>
            </a:pPr>
            <a:r>
              <a:rPr lang="en-US" b="1" i="0" dirty="0">
                <a:effectLst/>
              </a:rPr>
              <a:t>Automate Login Access: </a:t>
            </a:r>
            <a:r>
              <a:rPr lang="en-US" b="0" i="0" dirty="0">
                <a:effectLst/>
              </a:rPr>
              <a:t>Implement a self-service password reset tool to significantly reduce ticket volume.</a:t>
            </a:r>
          </a:p>
          <a:p>
            <a:pPr lvl="1" algn="just"/>
            <a:endParaRPr lang="en-US" b="0" i="0" dirty="0">
              <a:effectLst/>
            </a:endParaRPr>
          </a:p>
          <a:p>
            <a:pPr marL="742950" lvl="1" indent="-285750" algn="just">
              <a:buFont typeface="Arial" panose="020B0604020202020204" pitchFamily="34" charset="0"/>
              <a:buChar char="•"/>
            </a:pPr>
            <a:r>
              <a:rPr lang="en-US" b="1" i="0" dirty="0">
                <a:effectLst/>
              </a:rPr>
              <a:t>Develop Specialized Training:</a:t>
            </a:r>
            <a:r>
              <a:rPr lang="en-US" b="0" i="0" dirty="0">
                <a:effectLst/>
              </a:rPr>
              <a:t> Create training focused on "System" and "Hardware" issues to reduce resolution times for our most complex problems.</a:t>
            </a:r>
          </a:p>
        </p:txBody>
      </p:sp>
    </p:spTree>
    <p:extLst>
      <p:ext uri="{BB962C8B-B14F-4D97-AF65-F5344CB8AC3E}">
        <p14:creationId xmlns:p14="http://schemas.microsoft.com/office/powerpoint/2010/main" val="110286961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5BD4D1-772F-EDF3-9228-E905C0C49A1A}"/>
              </a:ext>
            </a:extLst>
          </p:cNvPr>
          <p:cNvSpPr txBox="1"/>
          <p:nvPr/>
        </p:nvSpPr>
        <p:spPr>
          <a:xfrm>
            <a:off x="4531032" y="516210"/>
            <a:ext cx="6096000" cy="369332"/>
          </a:xfrm>
          <a:prstGeom prst="rect">
            <a:avLst/>
          </a:prstGeom>
          <a:noFill/>
        </p:spPr>
        <p:txBody>
          <a:bodyPr wrap="square">
            <a:spAutoFit/>
          </a:bodyPr>
          <a:lstStyle/>
          <a:p>
            <a:r>
              <a:rPr lang="en-IN" b="1" i="0" dirty="0">
                <a:effectLst/>
              </a:rPr>
              <a:t>Summary of Key Findings</a:t>
            </a:r>
            <a:endParaRPr lang="en-IN" b="1" dirty="0"/>
          </a:p>
        </p:txBody>
      </p:sp>
      <p:pic>
        <p:nvPicPr>
          <p:cNvPr id="5" name="Picture 4">
            <a:extLst>
              <a:ext uri="{FF2B5EF4-FFF2-40B4-BE49-F238E27FC236}">
                <a16:creationId xmlns:a16="http://schemas.microsoft.com/office/drawing/2014/main" id="{4738546F-73D5-D3FB-A669-852C5EB5F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168" y="1226865"/>
            <a:ext cx="2629267" cy="3896269"/>
          </a:xfrm>
          <a:prstGeom prst="rect">
            <a:avLst/>
          </a:prstGeom>
        </p:spPr>
      </p:pic>
      <p:pic>
        <p:nvPicPr>
          <p:cNvPr id="9" name="Picture 8">
            <a:extLst>
              <a:ext uri="{FF2B5EF4-FFF2-40B4-BE49-F238E27FC236}">
                <a16:creationId xmlns:a16="http://schemas.microsoft.com/office/drawing/2014/main" id="{73A851F5-FAE0-22D8-8666-D96A3A9DAB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7753" y="1226865"/>
            <a:ext cx="2610214" cy="3905795"/>
          </a:xfrm>
          <a:prstGeom prst="rect">
            <a:avLst/>
          </a:prstGeom>
        </p:spPr>
      </p:pic>
      <p:pic>
        <p:nvPicPr>
          <p:cNvPr id="11" name="Picture 10">
            <a:extLst>
              <a:ext uri="{FF2B5EF4-FFF2-40B4-BE49-F238E27FC236}">
                <a16:creationId xmlns:a16="http://schemas.microsoft.com/office/drawing/2014/main" id="{025E2BAB-4A66-5EB9-ADF9-1349DE6A99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6830" y="1226865"/>
            <a:ext cx="2600688" cy="3924848"/>
          </a:xfrm>
          <a:prstGeom prst="rect">
            <a:avLst/>
          </a:prstGeom>
        </p:spPr>
      </p:pic>
      <p:pic>
        <p:nvPicPr>
          <p:cNvPr id="15" name="Picture 14">
            <a:extLst>
              <a:ext uri="{FF2B5EF4-FFF2-40B4-BE49-F238E27FC236}">
                <a16:creationId xmlns:a16="http://schemas.microsoft.com/office/drawing/2014/main" id="{0FFBE6F1-CDFE-66B0-349B-931F2F62AA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34942" y="1236392"/>
            <a:ext cx="2581635" cy="3886742"/>
          </a:xfrm>
          <a:prstGeom prst="rect">
            <a:avLst/>
          </a:prstGeom>
        </p:spPr>
      </p:pic>
    </p:spTree>
    <p:extLst>
      <p:ext uri="{BB962C8B-B14F-4D97-AF65-F5344CB8AC3E}">
        <p14:creationId xmlns:p14="http://schemas.microsoft.com/office/powerpoint/2010/main" val="316269356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E28DAC-0241-7ACE-C639-0AA462C83F22}"/>
              </a:ext>
            </a:extLst>
          </p:cNvPr>
          <p:cNvSpPr txBox="1"/>
          <p:nvPr/>
        </p:nvSpPr>
        <p:spPr>
          <a:xfrm>
            <a:off x="5437240" y="761378"/>
            <a:ext cx="3215148" cy="369332"/>
          </a:xfrm>
          <a:prstGeom prst="rect">
            <a:avLst/>
          </a:prstGeom>
          <a:noFill/>
        </p:spPr>
        <p:txBody>
          <a:bodyPr wrap="square" rtlCol="0">
            <a:spAutoFit/>
          </a:bodyPr>
          <a:lstStyle/>
          <a:p>
            <a:r>
              <a:rPr lang="en-IN" b="1" dirty="0"/>
              <a:t>Conclusion</a:t>
            </a:r>
            <a:r>
              <a:rPr lang="en-IN" dirty="0"/>
              <a:t> </a:t>
            </a:r>
          </a:p>
        </p:txBody>
      </p:sp>
      <p:sp>
        <p:nvSpPr>
          <p:cNvPr id="4" name="TextBox 3">
            <a:extLst>
              <a:ext uri="{FF2B5EF4-FFF2-40B4-BE49-F238E27FC236}">
                <a16:creationId xmlns:a16="http://schemas.microsoft.com/office/drawing/2014/main" id="{5E85A1BA-B84F-4235-EB3E-EBE3E22EE06F}"/>
              </a:ext>
            </a:extLst>
          </p:cNvPr>
          <p:cNvSpPr txBox="1"/>
          <p:nvPr/>
        </p:nvSpPr>
        <p:spPr>
          <a:xfrm>
            <a:off x="806244" y="1664639"/>
            <a:ext cx="10982633" cy="4247317"/>
          </a:xfrm>
          <a:prstGeom prst="rect">
            <a:avLst/>
          </a:prstGeom>
          <a:noFill/>
        </p:spPr>
        <p:txBody>
          <a:bodyPr wrap="square">
            <a:spAutoFit/>
          </a:bodyPr>
          <a:lstStyle/>
          <a:p>
            <a:pPr algn="just">
              <a:buFont typeface="Arial" panose="020B0604020202020204" pitchFamily="34" charset="0"/>
              <a:buChar char="•"/>
            </a:pPr>
            <a:r>
              <a:rPr lang="en-US" b="0" i="0" dirty="0">
                <a:effectLst/>
                <a:latin typeface="fkGroteskNeue"/>
              </a:rPr>
              <a:t>The help desk is effectively managing a high and growing workload. Despite ticket volume more than doubling over five years, the team maintains a high immediate resolution rate and has consistently improved average satisfaction scores year-over-year.</a:t>
            </a:r>
          </a:p>
          <a:p>
            <a:pPr algn="just"/>
            <a:endParaRPr lang="en-US" b="0" i="0" dirty="0">
              <a:effectLst/>
              <a:latin typeface="fkGroteskNeue"/>
            </a:endParaRPr>
          </a:p>
          <a:p>
            <a:pPr algn="just">
              <a:buFont typeface="Arial" panose="020B0604020202020204" pitchFamily="34" charset="0"/>
              <a:buChar char="•"/>
            </a:pPr>
            <a:r>
              <a:rPr lang="en-US" b="0" i="0" dirty="0">
                <a:effectLst/>
                <a:latin typeface="fkGroteskNeue"/>
              </a:rPr>
              <a:t>Service quality is strong but inconsistent. While a majority of users are highly satisfied (rating service a 5 out of 5), a significant number of tickets still receive very low scores, pointing to an opportunity to standardize processes and improve service consistency.</a:t>
            </a:r>
          </a:p>
          <a:p>
            <a:pPr algn="just"/>
            <a:endParaRPr lang="en-US" b="0" i="0" dirty="0">
              <a:effectLst/>
              <a:latin typeface="fkGroteskNeue"/>
            </a:endParaRPr>
          </a:p>
          <a:p>
            <a:pPr algn="just">
              <a:buFont typeface="Arial" panose="020B0604020202020204" pitchFamily="34" charset="0"/>
              <a:buChar char="•"/>
            </a:pPr>
            <a:r>
              <a:rPr lang="en-US" b="0" i="0" dirty="0">
                <a:effectLst/>
                <a:latin typeface="fkGroteskNeue"/>
              </a:rPr>
              <a:t>Specific performance bottlenecks are dragging down overall efficiency. Tickets related to Hardware and Login Access take significantly longer to resolve (averaging 6–8 days) compared to other categories, indicating a clear area for process improvement.</a:t>
            </a:r>
          </a:p>
          <a:p>
            <a:pPr algn="just"/>
            <a:endParaRPr lang="en-US" b="0" i="0" dirty="0">
              <a:effectLst/>
              <a:latin typeface="fkGroteskNeue"/>
            </a:endParaRPr>
          </a:p>
          <a:p>
            <a:pPr algn="just">
              <a:buFont typeface="Arial" panose="020B0604020202020204" pitchFamily="34" charset="0"/>
              <a:buChar char="•"/>
            </a:pPr>
            <a:r>
              <a:rPr lang="en-US" b="0" i="0" dirty="0">
                <a:effectLst/>
                <a:latin typeface="fkGroteskNeue"/>
              </a:rPr>
              <a:t>User satisfaction varies by demographic and issue type. The highest satisfaction comes from the youngest (20-29) and oldest (50+) employees, while those in the middle age ranges report lower satisfaction, suggesting a need to better tailor support to this core group.</a:t>
            </a:r>
          </a:p>
        </p:txBody>
      </p:sp>
    </p:spTree>
    <p:extLst>
      <p:ext uri="{BB962C8B-B14F-4D97-AF65-F5344CB8AC3E}">
        <p14:creationId xmlns:p14="http://schemas.microsoft.com/office/powerpoint/2010/main" val="1958896439"/>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2010</TotalTime>
  <Words>1286</Words>
  <Application>Microsoft Office PowerPoint</Application>
  <PresentationFormat>Widescreen</PresentationFormat>
  <Paragraphs>126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fkGroteskNeue</vt:lpstr>
      <vt:lpstr>Office Theme</vt:lpstr>
      <vt:lpstr>IT TICKET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SM65 Sruthi Geervani.M</dc:creator>
  <cp:lastModifiedBy>SM65 Sruthi Geervani.M</cp:lastModifiedBy>
  <cp:revision>2</cp:revision>
  <dcterms:created xsi:type="dcterms:W3CDTF">2025-09-03T15:56:15Z</dcterms:created>
  <dcterms:modified xsi:type="dcterms:W3CDTF">2025-09-23T12:49:22Z</dcterms:modified>
</cp:coreProperties>
</file>